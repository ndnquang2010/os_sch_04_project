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4" r:id="rId6"/>
    <p:sldId id="265" r:id="rId7"/>
    <p:sldId id="261" r:id="rId8"/>
    <p:sldId id="263" r:id="rId9"/>
    <p:sldId id="262"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4" d="100"/>
          <a:sy n="104" d="100"/>
        </p:scale>
        <p:origin x="8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360A6-97EB-4009-B319-D785B8C4E24E}"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C8642-6A6C-4258-A2E2-F3EC732283B8}" type="slidenum">
              <a:rPr lang="en-US" smtClean="0"/>
              <a:t>‹#›</a:t>
            </a:fld>
            <a:endParaRPr lang="en-US"/>
          </a:p>
        </p:txBody>
      </p:sp>
    </p:spTree>
    <p:extLst>
      <p:ext uri="{BB962C8B-B14F-4D97-AF65-F5344CB8AC3E}">
        <p14:creationId xmlns:p14="http://schemas.microsoft.com/office/powerpoint/2010/main" val="965542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BC8642-6A6C-4258-A2E2-F3EC732283B8}" type="slidenum">
              <a:rPr lang="en-US" smtClean="0"/>
              <a:t>10</a:t>
            </a:fld>
            <a:endParaRPr lang="en-US"/>
          </a:p>
        </p:txBody>
      </p:sp>
    </p:spTree>
    <p:extLst>
      <p:ext uri="{BB962C8B-B14F-4D97-AF65-F5344CB8AC3E}">
        <p14:creationId xmlns:p14="http://schemas.microsoft.com/office/powerpoint/2010/main" val="2131518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A69B-190E-E304-0D8A-4D6FC9689D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3BFC42-D782-C7A0-CBA3-0BC0FED499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A808E9-0CB1-A098-BF15-0D4F47C413BD}"/>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5" name="Footer Placeholder 4">
            <a:extLst>
              <a:ext uri="{FF2B5EF4-FFF2-40B4-BE49-F238E27FC236}">
                <a16:creationId xmlns:a16="http://schemas.microsoft.com/office/drawing/2014/main" id="{3AE1DDE6-7169-4B54-F3E5-9865F0F8DC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0F61A-8987-53F5-BAB6-0FD2C6BBC376}"/>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4265242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33C68-B8F5-67F3-7A62-6DE6F9DDD8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805597-6A60-DB0B-113A-E141382BEA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9F7A86-A30E-C441-B768-30016B62EB52}"/>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5" name="Footer Placeholder 4">
            <a:extLst>
              <a:ext uri="{FF2B5EF4-FFF2-40B4-BE49-F238E27FC236}">
                <a16:creationId xmlns:a16="http://schemas.microsoft.com/office/drawing/2014/main" id="{E06838A8-F113-6EAB-F4E0-F990E56F3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39D4CE-C54E-2600-BBAE-F2D0F516044C}"/>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293811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39E9F-3D03-7913-583B-8716A47C3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7020A9-8201-2B22-559B-B54924C190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2B97E8-E773-CDF4-DDC3-D7185753E5BA}"/>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5" name="Footer Placeholder 4">
            <a:extLst>
              <a:ext uri="{FF2B5EF4-FFF2-40B4-BE49-F238E27FC236}">
                <a16:creationId xmlns:a16="http://schemas.microsoft.com/office/drawing/2014/main" id="{047EC8C8-F4C7-090F-6353-AE4A5FF06A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8C747B-2286-9987-9F05-25CFA183E66B}"/>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1512297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08810-EEC7-EAFA-83F8-EDBB4BEA6D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1D274D-05BD-B0B8-184B-67D3FF26C5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30E933-DC38-0AEC-60CC-E198535AF9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9F588A-80C1-414D-C69B-D193FB799474}"/>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6" name="Footer Placeholder 5">
            <a:extLst>
              <a:ext uri="{FF2B5EF4-FFF2-40B4-BE49-F238E27FC236}">
                <a16:creationId xmlns:a16="http://schemas.microsoft.com/office/drawing/2014/main" id="{E8093CB3-9B0F-D21E-1C69-1C6FA98249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5AC25-1890-FD69-303B-EB32EB20E7C5}"/>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3522568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4A5D7-3E5F-B937-EFFA-A5649519EA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6BD731-9073-F83B-E619-B56CA68D9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19245A-99F5-745B-AC4A-FA1813B252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76051C-F680-FC4C-AB9D-FB5EC12582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1A635A-4214-0EE7-ACCF-34340C0F34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DECC58-29BB-21B3-4A8B-7166A2BE1744}"/>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8" name="Footer Placeholder 7">
            <a:extLst>
              <a:ext uri="{FF2B5EF4-FFF2-40B4-BE49-F238E27FC236}">
                <a16:creationId xmlns:a16="http://schemas.microsoft.com/office/drawing/2014/main" id="{692D9209-4C71-47FE-30EA-3B2AEF65AC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967C3F-6EDA-F7D0-551D-41E8DA823CFC}"/>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9526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903D5-B33B-A15C-5DF1-FEB03D254F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A22EBB-B7C0-5A9A-118E-B9FC9ADCFFCE}"/>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4" name="Footer Placeholder 3">
            <a:extLst>
              <a:ext uri="{FF2B5EF4-FFF2-40B4-BE49-F238E27FC236}">
                <a16:creationId xmlns:a16="http://schemas.microsoft.com/office/drawing/2014/main" id="{B7283467-53E4-047D-31F2-BDF7463ACB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F6EF1C-6CDC-A830-EA6D-373A008E9491}"/>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3743288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D93D94-46A8-AD7C-BF30-D25955BEA06A}"/>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3" name="Footer Placeholder 2">
            <a:extLst>
              <a:ext uri="{FF2B5EF4-FFF2-40B4-BE49-F238E27FC236}">
                <a16:creationId xmlns:a16="http://schemas.microsoft.com/office/drawing/2014/main" id="{33EC7CB8-7810-2425-EDF4-B9D1E5690C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E6CB7C-22DD-300E-9B26-CCC01E210E29}"/>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2755844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EB2F0-8CC2-8F71-2132-4289C48F7C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A3D90D-313A-8E0A-98E4-8459E8F88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C39958-01BF-408C-B186-688FA124F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924B73-C4AB-E010-C869-3DB6B6360F9A}"/>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6" name="Footer Placeholder 5">
            <a:extLst>
              <a:ext uri="{FF2B5EF4-FFF2-40B4-BE49-F238E27FC236}">
                <a16:creationId xmlns:a16="http://schemas.microsoft.com/office/drawing/2014/main" id="{C073FE73-9AF1-CA8C-DF4A-D2E1FC059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474C08-8742-A6B7-3A49-8AEEF28B7FEA}"/>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1845643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11D2C-C191-C52F-919E-AD3BF0F208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349382-E360-6745-863E-CF62BA841D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FE3998-7456-EBB8-0A5C-A9C2C2B14A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FC6004-34F8-2844-B594-755E3E3C5D7D}"/>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6" name="Footer Placeholder 5">
            <a:extLst>
              <a:ext uri="{FF2B5EF4-FFF2-40B4-BE49-F238E27FC236}">
                <a16:creationId xmlns:a16="http://schemas.microsoft.com/office/drawing/2014/main" id="{A1CD9127-29FB-FE76-2F6D-BD49ADE053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29B4F2-F29A-E64A-26EC-0D0A661DF106}"/>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2989006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C87D6-8840-390E-B6A9-1B73C877D0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BFFC8D-ABB7-09F2-FA1D-32F42E4F77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5A3D6-4E9D-610E-D664-07118D161061}"/>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5" name="Footer Placeholder 4">
            <a:extLst>
              <a:ext uri="{FF2B5EF4-FFF2-40B4-BE49-F238E27FC236}">
                <a16:creationId xmlns:a16="http://schemas.microsoft.com/office/drawing/2014/main" id="{BFCC3EDD-4D48-775E-2D65-7EA1783C77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4CE8BD-7F0A-AC59-8E67-781C96C5A1CB}"/>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2215266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358A76-79F4-CDDE-89F0-27BB5E1F99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27BEAB-C41A-45B9-1AA0-562FDD223C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2DB040-570B-1660-6933-7BCB22483BEC}"/>
              </a:ext>
            </a:extLst>
          </p:cNvPr>
          <p:cNvSpPr>
            <a:spLocks noGrp="1"/>
          </p:cNvSpPr>
          <p:nvPr>
            <p:ph type="dt" sz="half" idx="10"/>
          </p:nvPr>
        </p:nvSpPr>
        <p:spPr/>
        <p:txBody>
          <a:bodyPr/>
          <a:lstStyle/>
          <a:p>
            <a:fld id="{EE111688-1BAA-4DE1-B596-3A16979A46E5}" type="datetimeFigureOut">
              <a:rPr lang="en-US" smtClean="0"/>
              <a:t>4/28/2026</a:t>
            </a:fld>
            <a:endParaRPr lang="en-US"/>
          </a:p>
        </p:txBody>
      </p:sp>
      <p:sp>
        <p:nvSpPr>
          <p:cNvPr id="5" name="Footer Placeholder 4">
            <a:extLst>
              <a:ext uri="{FF2B5EF4-FFF2-40B4-BE49-F238E27FC236}">
                <a16:creationId xmlns:a16="http://schemas.microsoft.com/office/drawing/2014/main" id="{2EE0D5BF-3806-70D3-19F0-B46880B83F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ED73CF-C1D3-B98F-48B1-7E8E388D51DB}"/>
              </a:ext>
            </a:extLst>
          </p:cNvPr>
          <p:cNvSpPr>
            <a:spLocks noGrp="1"/>
          </p:cNvSpPr>
          <p:nvPr>
            <p:ph type="sldNum" sz="quarter" idx="12"/>
          </p:nvPr>
        </p:nvSpPr>
        <p:spPr/>
        <p:txBody>
          <a:bodyPr/>
          <a:lstStyle/>
          <a:p>
            <a:fld id="{80E80891-EBCF-4B16-AF5A-F0DB9FD501B3}" type="slidenum">
              <a:rPr lang="en-US" smtClean="0"/>
              <a:t>‹#›</a:t>
            </a:fld>
            <a:endParaRPr lang="en-US"/>
          </a:p>
        </p:txBody>
      </p:sp>
    </p:spTree>
    <p:extLst>
      <p:ext uri="{BB962C8B-B14F-4D97-AF65-F5344CB8AC3E}">
        <p14:creationId xmlns:p14="http://schemas.microsoft.com/office/powerpoint/2010/main" val="2952766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460460-9682-BF3D-6A6B-4789E511DE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78576A-E0D0-C73B-8F29-BFFF295B7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974A75-70DE-D07E-E9F0-839F45A9CD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111688-1BAA-4DE1-B596-3A16979A46E5}" type="datetimeFigureOut">
              <a:rPr lang="en-US" smtClean="0"/>
              <a:t>4/28/2026</a:t>
            </a:fld>
            <a:endParaRPr lang="en-US"/>
          </a:p>
        </p:txBody>
      </p:sp>
      <p:sp>
        <p:nvSpPr>
          <p:cNvPr id="5" name="Footer Placeholder 4">
            <a:extLst>
              <a:ext uri="{FF2B5EF4-FFF2-40B4-BE49-F238E27FC236}">
                <a16:creationId xmlns:a16="http://schemas.microsoft.com/office/drawing/2014/main" id="{DAFA588D-C1B0-EBC6-4797-2113AC8CCF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05F66E-152E-52F2-2260-FFFD25D23F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E80891-EBCF-4B16-AF5A-F0DB9FD501B3}" type="slidenum">
              <a:rPr lang="en-US" smtClean="0"/>
              <a:t>‹#›</a:t>
            </a:fld>
            <a:endParaRPr lang="en-US"/>
          </a:p>
        </p:txBody>
      </p:sp>
    </p:spTree>
    <p:extLst>
      <p:ext uri="{BB962C8B-B14F-4D97-AF65-F5344CB8AC3E}">
        <p14:creationId xmlns:p14="http://schemas.microsoft.com/office/powerpoint/2010/main" val="1377124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B445-0092-B085-E99C-F09630194642}"/>
              </a:ext>
            </a:extLst>
          </p:cNvPr>
          <p:cNvSpPr>
            <a:spLocks noGrp="1"/>
          </p:cNvSpPr>
          <p:nvPr>
            <p:ph type="ctrTitle"/>
          </p:nvPr>
        </p:nvSpPr>
        <p:spPr>
          <a:xfrm>
            <a:off x="1524000" y="634482"/>
            <a:ext cx="9144000" cy="806580"/>
          </a:xfrm>
        </p:spPr>
        <p:txBody>
          <a:bodyPr>
            <a:normAutofit/>
          </a:bodyPr>
          <a:lstStyle/>
          <a:p>
            <a:r>
              <a:rPr lang="en-US" sz="4000" dirty="0" err="1">
                <a:latin typeface="Times New Roman" panose="02020603050405020304" pitchFamily="18" charset="0"/>
                <a:cs typeface="Times New Roman" panose="02020603050405020304" pitchFamily="18" charset="0"/>
              </a:rPr>
              <a:t>Nhóm</a:t>
            </a:r>
            <a:r>
              <a:rPr lang="en-US" sz="4000" dirty="0">
                <a:latin typeface="Times New Roman" panose="02020603050405020304" pitchFamily="18" charset="0"/>
                <a:cs typeface="Times New Roman" panose="02020603050405020304" pitchFamily="18" charset="0"/>
              </a:rPr>
              <a:t> 1 : </a:t>
            </a:r>
            <a:r>
              <a:rPr lang="en-US" sz="4000" dirty="0" err="1">
                <a:latin typeface="Times New Roman" panose="02020603050405020304" pitchFamily="18" charset="0"/>
                <a:cs typeface="Times New Roman" panose="02020603050405020304" pitchFamily="18" charset="0"/>
              </a:rPr>
              <a:t>Hệ</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Điều</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Hành</a:t>
            </a:r>
            <a:endParaRPr lang="en-US"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3906A6D-DEF6-0855-9006-4514C69B6937}"/>
              </a:ext>
            </a:extLst>
          </p:cNvPr>
          <p:cNvSpPr>
            <a:spLocks noGrp="1"/>
          </p:cNvSpPr>
          <p:nvPr>
            <p:ph type="subTitle" idx="1"/>
          </p:nvPr>
        </p:nvSpPr>
        <p:spPr>
          <a:xfrm>
            <a:off x="2327988" y="1441062"/>
            <a:ext cx="7536024" cy="1022220"/>
          </a:xfrm>
        </p:spPr>
        <p:txBody>
          <a:bodyPr>
            <a:normAutofit/>
          </a:bodyPr>
          <a:lstStyle/>
          <a:p>
            <a:r>
              <a:rPr lang="en-US" sz="3200" dirty="0" err="1">
                <a:solidFill>
                  <a:srgbClr val="FF0000"/>
                </a:solidFill>
              </a:rPr>
              <a:t>Đề</a:t>
            </a:r>
            <a:r>
              <a:rPr lang="en-US" sz="3200" dirty="0">
                <a:solidFill>
                  <a:srgbClr val="FF0000"/>
                </a:solidFill>
              </a:rPr>
              <a:t> </a:t>
            </a:r>
            <a:r>
              <a:rPr lang="en-US" sz="3200" dirty="0" err="1">
                <a:solidFill>
                  <a:srgbClr val="FF0000"/>
                </a:solidFill>
              </a:rPr>
              <a:t>tài</a:t>
            </a:r>
            <a:r>
              <a:rPr lang="en-US" sz="3200" dirty="0">
                <a:solidFill>
                  <a:srgbClr val="FF0000"/>
                </a:solidFill>
              </a:rPr>
              <a:t> </a:t>
            </a:r>
          </a:p>
          <a:p>
            <a:r>
              <a:rPr lang="en-US" dirty="0" err="1"/>
              <a:t>ứng</a:t>
            </a:r>
            <a:r>
              <a:rPr lang="en-US" dirty="0"/>
              <a:t> </a:t>
            </a:r>
            <a:r>
              <a:rPr lang="en-US" dirty="0" err="1"/>
              <a:t>dụng</a:t>
            </a:r>
            <a:r>
              <a:rPr lang="en-US" dirty="0"/>
              <a:t> </a:t>
            </a:r>
            <a:r>
              <a:rPr lang="en-US" dirty="0" err="1"/>
              <a:t>để</a:t>
            </a:r>
            <a:r>
              <a:rPr lang="en-US" dirty="0"/>
              <a:t> </a:t>
            </a:r>
            <a:r>
              <a:rPr lang="en-US" dirty="0" err="1"/>
              <a:t>minh</a:t>
            </a:r>
            <a:r>
              <a:rPr lang="en-US" dirty="0"/>
              <a:t> </a:t>
            </a:r>
            <a:r>
              <a:rPr lang="en-US" dirty="0" err="1"/>
              <a:t>họa</a:t>
            </a:r>
            <a:r>
              <a:rPr lang="en-US" dirty="0"/>
              <a:t> </a:t>
            </a:r>
            <a:r>
              <a:rPr lang="en-US" dirty="0" err="1"/>
              <a:t>thuật</a:t>
            </a:r>
            <a:r>
              <a:rPr lang="en-US" dirty="0"/>
              <a:t> </a:t>
            </a:r>
            <a:r>
              <a:rPr lang="en-US" dirty="0" err="1"/>
              <a:t>toán</a:t>
            </a:r>
            <a:r>
              <a:rPr lang="en-US" dirty="0"/>
              <a:t> </a:t>
            </a:r>
            <a:r>
              <a:rPr lang="en-US" dirty="0" err="1"/>
              <a:t>lập</a:t>
            </a:r>
            <a:r>
              <a:rPr lang="en-US" dirty="0"/>
              <a:t> </a:t>
            </a:r>
            <a:r>
              <a:rPr lang="en-US" dirty="0" err="1"/>
              <a:t>lịch</a:t>
            </a:r>
            <a:r>
              <a:rPr lang="en-US" dirty="0"/>
              <a:t> CPU</a:t>
            </a:r>
          </a:p>
          <a:p>
            <a:endParaRPr lang="en-US" dirty="0"/>
          </a:p>
        </p:txBody>
      </p:sp>
      <p:graphicFrame>
        <p:nvGraphicFramePr>
          <p:cNvPr id="6" name="Table 5">
            <a:extLst>
              <a:ext uri="{FF2B5EF4-FFF2-40B4-BE49-F238E27FC236}">
                <a16:creationId xmlns:a16="http://schemas.microsoft.com/office/drawing/2014/main" id="{9D14421F-374D-C05E-4710-942BB93A2925}"/>
              </a:ext>
            </a:extLst>
          </p:cNvPr>
          <p:cNvGraphicFramePr>
            <a:graphicFrameLocks noGrp="1"/>
          </p:cNvGraphicFramePr>
          <p:nvPr>
            <p:extLst>
              <p:ext uri="{D42A27DB-BD31-4B8C-83A1-F6EECF244321}">
                <p14:modId xmlns:p14="http://schemas.microsoft.com/office/powerpoint/2010/main" val="3620370470"/>
              </p:ext>
            </p:extLst>
          </p:nvPr>
        </p:nvGraphicFramePr>
        <p:xfrm>
          <a:off x="1959429" y="2463282"/>
          <a:ext cx="8593494" cy="2631234"/>
        </p:xfrm>
        <a:graphic>
          <a:graphicData uri="http://schemas.openxmlformats.org/drawingml/2006/table">
            <a:tbl>
              <a:tblPr firstRow="1" bandRow="1">
                <a:tableStyleId>{5C22544A-7EE6-4342-B048-85BDC9FD1C3A}</a:tableStyleId>
              </a:tblPr>
              <a:tblGrid>
                <a:gridCol w="4296747">
                  <a:extLst>
                    <a:ext uri="{9D8B030D-6E8A-4147-A177-3AD203B41FA5}">
                      <a16:colId xmlns:a16="http://schemas.microsoft.com/office/drawing/2014/main" val="1465053027"/>
                    </a:ext>
                  </a:extLst>
                </a:gridCol>
                <a:gridCol w="4296747">
                  <a:extLst>
                    <a:ext uri="{9D8B030D-6E8A-4147-A177-3AD203B41FA5}">
                      <a16:colId xmlns:a16="http://schemas.microsoft.com/office/drawing/2014/main" val="928107775"/>
                    </a:ext>
                  </a:extLst>
                </a:gridCol>
              </a:tblGrid>
              <a:tr h="438539">
                <a:tc>
                  <a:txBody>
                    <a:bodyPr/>
                    <a:lstStyle/>
                    <a:p>
                      <a:pPr algn="ctr"/>
                      <a:r>
                        <a:rPr lang="en-US" dirty="0" err="1">
                          <a:solidFill>
                            <a:schemeClr val="bg1"/>
                          </a:solidFill>
                        </a:rPr>
                        <a:t>Họ</a:t>
                      </a:r>
                      <a:r>
                        <a:rPr lang="en-US" dirty="0">
                          <a:solidFill>
                            <a:schemeClr val="bg1"/>
                          </a:solidFill>
                        </a:rPr>
                        <a:t> </a:t>
                      </a:r>
                      <a:r>
                        <a:rPr lang="en-US" dirty="0" err="1">
                          <a:solidFill>
                            <a:schemeClr val="bg1"/>
                          </a:solidFill>
                        </a:rPr>
                        <a:t>và</a:t>
                      </a:r>
                      <a:r>
                        <a:rPr lang="en-US" dirty="0">
                          <a:solidFill>
                            <a:schemeClr val="bg1"/>
                          </a:solidFill>
                        </a:rPr>
                        <a:t> </a:t>
                      </a:r>
                      <a:r>
                        <a:rPr lang="en-US" dirty="0" err="1">
                          <a:solidFill>
                            <a:schemeClr val="bg1"/>
                          </a:solidFill>
                        </a:rPr>
                        <a:t>Tên</a:t>
                      </a:r>
                      <a:endParaRPr lang="en-US" dirty="0">
                        <a:solidFill>
                          <a:schemeClr val="bg1"/>
                        </a:solidFill>
                      </a:endParaRPr>
                    </a:p>
                  </a:txBody>
                  <a:tcPr/>
                </a:tc>
                <a:tc>
                  <a:txBody>
                    <a:bodyPr/>
                    <a:lstStyle/>
                    <a:p>
                      <a:pPr algn="ctr"/>
                      <a:r>
                        <a:rPr lang="en-US" dirty="0">
                          <a:solidFill>
                            <a:schemeClr val="bg1"/>
                          </a:solidFill>
                        </a:rPr>
                        <a:t>MSSV</a:t>
                      </a:r>
                    </a:p>
                  </a:txBody>
                  <a:tcPr/>
                </a:tc>
                <a:extLst>
                  <a:ext uri="{0D108BD9-81ED-4DB2-BD59-A6C34878D82A}">
                    <a16:rowId xmlns:a16="http://schemas.microsoft.com/office/drawing/2014/main" val="2577757456"/>
                  </a:ext>
                </a:extLst>
              </a:tr>
              <a:tr h="438539">
                <a:tc>
                  <a:txBody>
                    <a:bodyPr/>
                    <a:lstStyle/>
                    <a:p>
                      <a:pPr algn="ctr"/>
                      <a:r>
                        <a:rPr lang="en-US" dirty="0"/>
                        <a:t>Hà </a:t>
                      </a:r>
                      <a:r>
                        <a:rPr lang="en-US" dirty="0" err="1"/>
                        <a:t>Chấn</a:t>
                      </a:r>
                      <a:r>
                        <a:rPr lang="en-US" dirty="0"/>
                        <a:t> Hào</a:t>
                      </a:r>
                    </a:p>
                  </a:txBody>
                  <a:tcPr/>
                </a:tc>
                <a:tc>
                  <a:txBody>
                    <a:bodyPr/>
                    <a:lstStyle/>
                    <a:p>
                      <a:pPr algn="ctr"/>
                      <a:r>
                        <a:rPr lang="en-US" dirty="0"/>
                        <a:t>079206003924</a:t>
                      </a:r>
                    </a:p>
                  </a:txBody>
                  <a:tcPr/>
                </a:tc>
                <a:extLst>
                  <a:ext uri="{0D108BD9-81ED-4DB2-BD59-A6C34878D82A}">
                    <a16:rowId xmlns:a16="http://schemas.microsoft.com/office/drawing/2014/main" val="2679979357"/>
                  </a:ext>
                </a:extLst>
              </a:tr>
              <a:tr h="438539">
                <a:tc>
                  <a:txBody>
                    <a:bodyPr/>
                    <a:lstStyle/>
                    <a:p>
                      <a:pPr algn="ctr"/>
                      <a:r>
                        <a:rPr lang="en-US" dirty="0"/>
                        <a:t>Phan Nhật Hào</a:t>
                      </a:r>
                    </a:p>
                  </a:txBody>
                  <a:tcPr/>
                </a:tc>
                <a:tc>
                  <a:txBody>
                    <a:bodyPr/>
                    <a:lstStyle/>
                    <a:p>
                      <a:pPr algn="ctr"/>
                      <a:r>
                        <a:rPr lang="en-US" sz="1800" kern="1200" dirty="0">
                          <a:solidFill>
                            <a:schemeClr val="dk1"/>
                          </a:solidFill>
                          <a:effectLst/>
                          <a:latin typeface="+mn-lt"/>
                          <a:ea typeface="+mn-ea"/>
                          <a:cs typeface="+mn-cs"/>
                        </a:rPr>
                        <a:t>089206002119</a:t>
                      </a:r>
                      <a:endParaRPr lang="en-US" dirty="0"/>
                    </a:p>
                  </a:txBody>
                  <a:tcPr/>
                </a:tc>
                <a:extLst>
                  <a:ext uri="{0D108BD9-81ED-4DB2-BD59-A6C34878D82A}">
                    <a16:rowId xmlns:a16="http://schemas.microsoft.com/office/drawing/2014/main" val="64412808"/>
                  </a:ext>
                </a:extLst>
              </a:tr>
              <a:tr h="438539">
                <a:tc>
                  <a:txBody>
                    <a:bodyPr/>
                    <a:lstStyle/>
                    <a:p>
                      <a:pPr algn="ctr"/>
                      <a:r>
                        <a:rPr lang="en-US" dirty="0"/>
                        <a:t>Nghiêm Đình Đạt</a:t>
                      </a:r>
                    </a:p>
                  </a:txBody>
                  <a:tcPr/>
                </a:tc>
                <a:tc>
                  <a:txBody>
                    <a:bodyPr/>
                    <a:lstStyle/>
                    <a:p>
                      <a:pPr marL="0" marR="0" algn="ctr">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066206002807</a:t>
                      </a:r>
                    </a:p>
                  </a:txBody>
                  <a:tcPr marL="68580" marR="68580" marT="0" marB="0"/>
                </a:tc>
                <a:extLst>
                  <a:ext uri="{0D108BD9-81ED-4DB2-BD59-A6C34878D82A}">
                    <a16:rowId xmlns:a16="http://schemas.microsoft.com/office/drawing/2014/main" val="1644145375"/>
                  </a:ext>
                </a:extLst>
              </a:tr>
              <a:tr h="438539">
                <a:tc>
                  <a:txBody>
                    <a:bodyPr/>
                    <a:lstStyle/>
                    <a:p>
                      <a:pPr algn="ctr"/>
                      <a:r>
                        <a:rPr lang="en-US" dirty="0"/>
                        <a:t>Nguyễn Minh Nhật</a:t>
                      </a:r>
                    </a:p>
                  </a:txBody>
                  <a:tcPr/>
                </a:tc>
                <a:tc>
                  <a:txBody>
                    <a:bodyPr/>
                    <a:lstStyle/>
                    <a:p>
                      <a:pPr marL="0" marR="0" algn="ctr">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079206020194</a:t>
                      </a:r>
                    </a:p>
                  </a:txBody>
                  <a:tcPr marL="68580" marR="68580" marT="0" marB="0"/>
                </a:tc>
                <a:extLst>
                  <a:ext uri="{0D108BD9-81ED-4DB2-BD59-A6C34878D82A}">
                    <a16:rowId xmlns:a16="http://schemas.microsoft.com/office/drawing/2014/main" val="1976669053"/>
                  </a:ext>
                </a:extLst>
              </a:tr>
              <a:tr h="438539">
                <a:tc>
                  <a:txBody>
                    <a:bodyPr/>
                    <a:lstStyle/>
                    <a:p>
                      <a:pPr algn="ctr"/>
                      <a:r>
                        <a:rPr lang="en-US" dirty="0"/>
                        <a:t>Nguyễn Đoàn Nhật Quang</a:t>
                      </a:r>
                    </a:p>
                  </a:txBody>
                  <a:tcPr/>
                </a:tc>
                <a:tc>
                  <a:txBody>
                    <a:bodyPr/>
                    <a:lstStyle/>
                    <a:p>
                      <a:pPr marL="0" marR="0" algn="ctr">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079206010585</a:t>
                      </a:r>
                    </a:p>
                  </a:txBody>
                  <a:tcPr marL="68580" marR="68580" marT="0" marB="0"/>
                </a:tc>
                <a:extLst>
                  <a:ext uri="{0D108BD9-81ED-4DB2-BD59-A6C34878D82A}">
                    <a16:rowId xmlns:a16="http://schemas.microsoft.com/office/drawing/2014/main" val="3381672101"/>
                  </a:ext>
                </a:extLst>
              </a:tr>
            </a:tbl>
          </a:graphicData>
        </a:graphic>
      </p:graphicFrame>
      <p:sp>
        <p:nvSpPr>
          <p:cNvPr id="7" name="TextBox 6">
            <a:extLst>
              <a:ext uri="{FF2B5EF4-FFF2-40B4-BE49-F238E27FC236}">
                <a16:creationId xmlns:a16="http://schemas.microsoft.com/office/drawing/2014/main" id="{491A58B6-ABB5-C4E7-7EC9-03AA3CF9B428}"/>
              </a:ext>
            </a:extLst>
          </p:cNvPr>
          <p:cNvSpPr txBox="1"/>
          <p:nvPr/>
        </p:nvSpPr>
        <p:spPr>
          <a:xfrm>
            <a:off x="277326" y="6116736"/>
            <a:ext cx="3051110" cy="646331"/>
          </a:xfrm>
          <a:prstGeom prst="rect">
            <a:avLst/>
          </a:prstGeom>
          <a:noFill/>
        </p:spPr>
        <p:txBody>
          <a:bodyPr wrap="square" rtlCol="0">
            <a:spAutoFit/>
          </a:bodyPr>
          <a:lstStyle/>
          <a:p>
            <a:r>
              <a:rPr lang="en-US" b="1" dirty="0" err="1"/>
              <a:t>Mã</a:t>
            </a:r>
            <a:r>
              <a:rPr lang="en-US" b="1" dirty="0"/>
              <a:t> </a:t>
            </a:r>
            <a:r>
              <a:rPr lang="en-US" b="1" dirty="0" err="1"/>
              <a:t>Lớp</a:t>
            </a:r>
            <a:r>
              <a:rPr lang="en-US" b="1" dirty="0"/>
              <a:t> HP:  012012500106</a:t>
            </a:r>
            <a:br>
              <a:rPr lang="en-US" b="1" dirty="0"/>
            </a:br>
            <a:r>
              <a:rPr lang="en-US" b="1" dirty="0" err="1"/>
              <a:t>Giảng</a:t>
            </a:r>
            <a:r>
              <a:rPr lang="en-US" b="1" dirty="0"/>
              <a:t> Viên:  Mai Ngọc Châu</a:t>
            </a:r>
          </a:p>
        </p:txBody>
      </p:sp>
    </p:spTree>
    <p:extLst>
      <p:ext uri="{BB962C8B-B14F-4D97-AF65-F5344CB8AC3E}">
        <p14:creationId xmlns:p14="http://schemas.microsoft.com/office/powerpoint/2010/main" val="3317834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E557C5-A4EC-403D-6776-35C5192F4324}"/>
              </a:ext>
            </a:extLst>
          </p:cNvPr>
          <p:cNvSpPr txBox="1"/>
          <p:nvPr/>
        </p:nvSpPr>
        <p:spPr>
          <a:xfrm>
            <a:off x="2830283" y="821093"/>
            <a:ext cx="7881257"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  Giới Thiệu Tổng Quan </a:t>
            </a:r>
            <a:r>
              <a:rPr lang="en-US" sz="4000" dirty="0" err="1">
                <a:latin typeface="Times New Roman" panose="02020603050405020304" pitchFamily="18" charset="0"/>
                <a:cs typeface="Times New Roman" panose="02020603050405020304" pitchFamily="18" charset="0"/>
              </a:rPr>
              <a:t>Đề</a:t>
            </a:r>
            <a:r>
              <a:rPr lang="en-US" sz="4000" dirty="0">
                <a:latin typeface="Times New Roman" panose="02020603050405020304" pitchFamily="18" charset="0"/>
                <a:cs typeface="Times New Roman" panose="02020603050405020304" pitchFamily="18" charset="0"/>
              </a:rPr>
              <a:t> Tài</a:t>
            </a:r>
          </a:p>
        </p:txBody>
      </p:sp>
      <p:sp>
        <p:nvSpPr>
          <p:cNvPr id="5" name="TextBox 4">
            <a:extLst>
              <a:ext uri="{FF2B5EF4-FFF2-40B4-BE49-F238E27FC236}">
                <a16:creationId xmlns:a16="http://schemas.microsoft.com/office/drawing/2014/main" id="{01007EC8-837B-F742-2F94-FD041E16F45C}"/>
              </a:ext>
            </a:extLst>
          </p:cNvPr>
          <p:cNvSpPr txBox="1"/>
          <p:nvPr/>
        </p:nvSpPr>
        <p:spPr>
          <a:xfrm>
            <a:off x="709127" y="2286000"/>
            <a:ext cx="473206" cy="369332"/>
          </a:xfrm>
          <a:prstGeom prst="rect">
            <a:avLst/>
          </a:prstGeom>
          <a:noFill/>
        </p:spPr>
        <p:txBody>
          <a:bodyPr wrap="none" rtlCol="0">
            <a:spAutoFit/>
          </a:bodyPr>
          <a:lstStyle/>
          <a:p>
            <a:pPr marL="285750" indent="-285750">
              <a:buFont typeface="Arial" panose="020B0604020202020204" pitchFamily="34" charset="0"/>
              <a:buChar char="•"/>
            </a:pPr>
            <a:endParaRPr lang="en-US" dirty="0"/>
          </a:p>
        </p:txBody>
      </p:sp>
      <p:sp>
        <p:nvSpPr>
          <p:cNvPr id="6" name="Oval 5">
            <a:extLst>
              <a:ext uri="{FF2B5EF4-FFF2-40B4-BE49-F238E27FC236}">
                <a16:creationId xmlns:a16="http://schemas.microsoft.com/office/drawing/2014/main" id="{0559346E-AC08-FE94-96C5-90197EBB267C}"/>
              </a:ext>
            </a:extLst>
          </p:cNvPr>
          <p:cNvSpPr/>
          <p:nvPr/>
        </p:nvSpPr>
        <p:spPr>
          <a:xfrm>
            <a:off x="538063" y="1767530"/>
            <a:ext cx="2292220" cy="1036939"/>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endParaRPr lang="en-US"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9E02FD8-F329-9FD7-967C-17642460198A}"/>
              </a:ext>
            </a:extLst>
          </p:cNvPr>
          <p:cNvSpPr/>
          <p:nvPr/>
        </p:nvSpPr>
        <p:spPr>
          <a:xfrm>
            <a:off x="419875" y="2797238"/>
            <a:ext cx="2528596" cy="32396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0" i="0" dirty="0">
                <a:solidFill>
                  <a:sysClr val="windowText" lastClr="000000"/>
                </a:solidFill>
                <a:effectLst/>
                <a:latin typeface="+mj-lt"/>
              </a:rPr>
              <a:t>Ứng dụng mô phỏng các thuật toán lập lịch CPU chạy tỨng dụng mô phỏng các thuật toán lập lịch CPU chạy trên hệ điều hành Windows dưới dạng GUI desktop</a:t>
            </a:r>
            <a:r>
              <a:rPr lang="vi-VN" b="0" i="0" dirty="0">
                <a:effectLst/>
                <a:latin typeface="+mj-lt"/>
              </a:rPr>
              <a:t>hệ </a:t>
            </a:r>
            <a:r>
              <a:rPr lang="vi-VN" b="0" i="0" dirty="0">
                <a:effectLst/>
              </a:rPr>
              <a:t>điều hành Windows dưới dạng GUI desktop.</a:t>
            </a:r>
            <a:endParaRPr lang="en-US" dirty="0"/>
          </a:p>
        </p:txBody>
      </p:sp>
      <p:sp>
        <p:nvSpPr>
          <p:cNvPr id="8" name="Oval 7">
            <a:extLst>
              <a:ext uri="{FF2B5EF4-FFF2-40B4-BE49-F238E27FC236}">
                <a16:creationId xmlns:a16="http://schemas.microsoft.com/office/drawing/2014/main" id="{AED6263D-2E00-0B77-F6F8-D058AC0A2A92}"/>
              </a:ext>
            </a:extLst>
          </p:cNvPr>
          <p:cNvSpPr/>
          <p:nvPr/>
        </p:nvSpPr>
        <p:spPr>
          <a:xfrm>
            <a:off x="3516087" y="1767530"/>
            <a:ext cx="2292220" cy="1036939"/>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i="0" dirty="0" err="1">
                <a:effectLst/>
              </a:rPr>
              <a:t>Thuật</a:t>
            </a:r>
            <a:r>
              <a:rPr lang="en-US" b="0" i="0" dirty="0">
                <a:effectLst/>
              </a:rPr>
              <a:t> </a:t>
            </a:r>
            <a:r>
              <a:rPr lang="en-US" b="0" i="0" dirty="0" err="1">
                <a:effectLst/>
              </a:rPr>
              <a:t>toán</a:t>
            </a:r>
            <a:r>
              <a:rPr lang="en-US" b="0" i="0" dirty="0">
                <a:effectLst/>
              </a:rPr>
              <a:t> </a:t>
            </a:r>
            <a:r>
              <a:rPr lang="en-US" b="0" i="0" dirty="0" err="1">
                <a:effectLst/>
              </a:rPr>
              <a:t>mô</a:t>
            </a:r>
            <a:r>
              <a:rPr lang="en-US" b="0" i="0" dirty="0">
                <a:effectLst/>
              </a:rPr>
              <a:t> </a:t>
            </a:r>
            <a:r>
              <a:rPr lang="en-US" b="0" i="0" dirty="0" err="1">
                <a:effectLst/>
              </a:rPr>
              <a:t>phỏng</a:t>
            </a:r>
            <a:endParaRPr lang="en-US" dirty="0">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92562D3C-2323-E7D4-E928-08AA4F7B21ED}"/>
              </a:ext>
            </a:extLst>
          </p:cNvPr>
          <p:cNvSpPr/>
          <p:nvPr/>
        </p:nvSpPr>
        <p:spPr>
          <a:xfrm>
            <a:off x="6383694" y="1767530"/>
            <a:ext cx="2292220" cy="1036939"/>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i="0" dirty="0" err="1">
                <a:effectLst/>
              </a:rPr>
              <a:t>Tính</a:t>
            </a:r>
            <a:r>
              <a:rPr lang="en-US" b="0" i="0" dirty="0">
                <a:effectLst/>
              </a:rPr>
              <a:t> </a:t>
            </a:r>
            <a:r>
              <a:rPr lang="en-US" b="0" i="0" dirty="0" err="1">
                <a:effectLst/>
              </a:rPr>
              <a:t>chất</a:t>
            </a:r>
            <a:r>
              <a:rPr lang="en-US" b="0" i="0" dirty="0">
                <a:effectLst/>
              </a:rPr>
              <a:t> </a:t>
            </a:r>
            <a:r>
              <a:rPr lang="en-US" b="0" i="0" dirty="0" err="1">
                <a:effectLst/>
              </a:rPr>
              <a:t>cốt</a:t>
            </a:r>
            <a:r>
              <a:rPr lang="en-US" b="0" i="0" dirty="0">
                <a:effectLst/>
              </a:rPr>
              <a:t> </a:t>
            </a:r>
            <a:r>
              <a:rPr lang="en-US" b="0" i="0" dirty="0" err="1">
                <a:effectLst/>
              </a:rPr>
              <a:t>lõi</a:t>
            </a:r>
            <a:endParaRPr lang="en-US" dirty="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84425551-6427-8191-A971-1056C143A4C2}"/>
              </a:ext>
            </a:extLst>
          </p:cNvPr>
          <p:cNvSpPr/>
          <p:nvPr/>
        </p:nvSpPr>
        <p:spPr>
          <a:xfrm>
            <a:off x="9361717" y="1767530"/>
            <a:ext cx="2292220" cy="1036939"/>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i="0" dirty="0" err="1">
                <a:effectLst/>
              </a:rPr>
              <a:t>Độ</a:t>
            </a:r>
            <a:r>
              <a:rPr lang="en-US" b="0" i="0" dirty="0">
                <a:effectLst/>
              </a:rPr>
              <a:t> </a:t>
            </a:r>
            <a:r>
              <a:rPr lang="en-US" b="0" i="0" dirty="0" err="1">
                <a:effectLst/>
              </a:rPr>
              <a:t>chính</a:t>
            </a:r>
            <a:r>
              <a:rPr lang="en-US" b="0" i="0" dirty="0">
                <a:effectLst/>
              </a:rPr>
              <a:t> </a:t>
            </a:r>
            <a:r>
              <a:rPr lang="en-US" b="0" i="0" dirty="0" err="1">
                <a:effectLst/>
              </a:rPr>
              <a:t>xác</a:t>
            </a:r>
            <a:endParaRPr lang="en-US"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C384D4AE-1893-D3C4-4C67-2C585FA071BE}"/>
              </a:ext>
            </a:extLst>
          </p:cNvPr>
          <p:cNvSpPr/>
          <p:nvPr/>
        </p:nvSpPr>
        <p:spPr>
          <a:xfrm>
            <a:off x="3331028" y="2797237"/>
            <a:ext cx="2528596" cy="32396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solidFill>
                  <a:schemeClr val="tx1"/>
                </a:solidFill>
                <a:latin typeface="+mj-lt"/>
              </a:rPr>
              <a:t>Tập trung vào </a:t>
            </a:r>
            <a:r>
              <a:rPr lang="en-US" dirty="0" err="1">
                <a:solidFill>
                  <a:schemeClr val="tx1"/>
                </a:solidFill>
                <a:latin typeface="Times New Roman" panose="02020603050405020304" pitchFamily="18" charset="0"/>
                <a:cs typeface="Times New Roman" panose="02020603050405020304" pitchFamily="18" charset="0"/>
              </a:rPr>
              <a:t>hai</a:t>
            </a:r>
            <a:r>
              <a:rPr lang="en-US" dirty="0">
                <a:solidFill>
                  <a:schemeClr val="tx1"/>
                </a:solidFill>
                <a:latin typeface="+mj-lt"/>
              </a:rPr>
              <a:t> </a:t>
            </a:r>
            <a:r>
              <a:rPr lang="vi-VN" dirty="0">
                <a:solidFill>
                  <a:schemeClr val="tx1"/>
                </a:solidFill>
                <a:latin typeface="+mj-lt"/>
              </a:rPr>
              <a:t>thuật toán cơ bản là </a:t>
            </a:r>
            <a:r>
              <a:rPr lang="en-US" b="1" dirty="0">
                <a:solidFill>
                  <a:schemeClr val="tx1"/>
                </a:solidFill>
                <a:latin typeface="Times New Roman" panose="02020603050405020304" pitchFamily="18" charset="0"/>
                <a:cs typeface="Times New Roman" panose="02020603050405020304" pitchFamily="18" charset="0"/>
              </a:rPr>
              <a:t>SJF</a:t>
            </a:r>
            <a:r>
              <a:rPr lang="en-US" dirty="0">
                <a:solidFill>
                  <a:schemeClr val="tx1"/>
                </a:solidFill>
                <a:latin typeface="+mj-lt"/>
              </a:rPr>
              <a:t> </a:t>
            </a:r>
            <a:r>
              <a:rPr lang="en-US" dirty="0" err="1">
                <a:solidFill>
                  <a:schemeClr val="tx1"/>
                </a:solidFill>
                <a:latin typeface="Times New Roman" panose="02020603050405020304" pitchFamily="18" charset="0"/>
                <a:cs typeface="Times New Roman" panose="02020603050405020304" pitchFamily="18" charset="0"/>
              </a:rPr>
              <a:t>và</a:t>
            </a:r>
            <a:r>
              <a:rPr lang="en-US" dirty="0">
                <a:solidFill>
                  <a:schemeClr val="tx1"/>
                </a:solidFill>
                <a:latin typeface="+mj-lt"/>
              </a:rPr>
              <a:t> </a:t>
            </a:r>
            <a:r>
              <a:rPr lang="en-US" b="1" dirty="0">
                <a:solidFill>
                  <a:schemeClr val="tx1"/>
                </a:solidFill>
                <a:latin typeface="Times New Roman" panose="02020603050405020304" pitchFamily="18" charset="0"/>
                <a:cs typeface="Times New Roman" panose="02020603050405020304" pitchFamily="18" charset="0"/>
              </a:rPr>
              <a:t>Priority Scheduling</a:t>
            </a:r>
            <a:r>
              <a:rPr lang="vi-VN" dirty="0">
                <a:solidFill>
                  <a:schemeClr val="tx1"/>
                </a:solidFill>
                <a:latin typeface="+mj-lt"/>
              </a:rPr>
              <a:t>.</a:t>
            </a:r>
            <a:endParaRPr lang="vi-VN" dirty="0">
              <a:solidFill>
                <a:schemeClr val="tx1"/>
              </a:solidFill>
              <a:effectLst/>
              <a:latin typeface="+mj-lt"/>
            </a:endParaRPr>
          </a:p>
          <a:p>
            <a:pPr algn="ctr"/>
            <a:endParaRPr lang="en-US" dirty="0">
              <a:solidFill>
                <a:schemeClr val="tx1"/>
              </a:solidFill>
              <a:latin typeface="+mj-lt"/>
            </a:endParaRPr>
          </a:p>
        </p:txBody>
      </p:sp>
      <p:sp>
        <p:nvSpPr>
          <p:cNvPr id="12" name="Rectangle 11">
            <a:extLst>
              <a:ext uri="{FF2B5EF4-FFF2-40B4-BE49-F238E27FC236}">
                <a16:creationId xmlns:a16="http://schemas.microsoft.com/office/drawing/2014/main" id="{5C46C2BF-63F6-FFD8-D23D-5E1E902541F4}"/>
              </a:ext>
            </a:extLst>
          </p:cNvPr>
          <p:cNvSpPr/>
          <p:nvPr/>
        </p:nvSpPr>
        <p:spPr>
          <a:xfrm>
            <a:off x="6202525" y="2804469"/>
            <a:ext cx="2528596" cy="32396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0" i="0" dirty="0">
                <a:solidFill>
                  <a:sysClr val="windowText" lastClr="000000"/>
                </a:solidFill>
                <a:effectLst/>
                <a:latin typeface="+mj-lt"/>
              </a:rPr>
              <a:t>Cả hai thuật toán đều hoạt động theo cơ chế không ngắt giữa chừng</a:t>
            </a:r>
            <a:endParaRPr lang="en-US" b="0" i="0" dirty="0">
              <a:solidFill>
                <a:sysClr val="windowText" lastClr="000000"/>
              </a:solidFill>
              <a:effectLst/>
              <a:latin typeface="+mj-lt"/>
            </a:endParaRPr>
          </a:p>
          <a:p>
            <a:pPr algn="ctr"/>
            <a:r>
              <a:rPr lang="en-US" dirty="0">
                <a:solidFill>
                  <a:sysClr val="windowText" lastClr="000000"/>
                </a:solidFill>
                <a:latin typeface="+mj-lt"/>
              </a:rPr>
              <a:t> </a:t>
            </a:r>
            <a:r>
              <a:rPr lang="vi-VN" b="0" i="0" dirty="0">
                <a:solidFill>
                  <a:sysClr val="windowText" lastClr="000000"/>
                </a:solidFill>
                <a:effectLst/>
                <a:latin typeface="+mj-lt"/>
              </a:rPr>
              <a:t> (Non-Preemptive)</a:t>
            </a:r>
            <a:r>
              <a:rPr lang="vi-VN" b="0" i="0" dirty="0">
                <a:effectLst/>
              </a:rPr>
              <a:t>ành Windows dưới dạng GUI desktop.</a:t>
            </a:r>
            <a:endParaRPr lang="en-US" dirty="0"/>
          </a:p>
        </p:txBody>
      </p:sp>
      <p:sp>
        <p:nvSpPr>
          <p:cNvPr id="13" name="Rectangle 12">
            <a:extLst>
              <a:ext uri="{FF2B5EF4-FFF2-40B4-BE49-F238E27FC236}">
                <a16:creationId xmlns:a16="http://schemas.microsoft.com/office/drawing/2014/main" id="{48125705-7834-34A7-2818-5E907ED8D544}"/>
              </a:ext>
            </a:extLst>
          </p:cNvPr>
          <p:cNvSpPr/>
          <p:nvPr/>
        </p:nvSpPr>
        <p:spPr>
          <a:xfrm>
            <a:off x="9243529" y="2804469"/>
            <a:ext cx="2528596" cy="32396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solidFill>
                  <a:sysClr val="windowText" lastClr="000000"/>
                </a:solidFill>
                <a:latin typeface="+mj-lt"/>
              </a:rPr>
              <a:t>Thuật toán được xây dựng và đối chiếu theo các ví dụ trong cuốn Silberschatz Operating System Concept(10th Edition)</a:t>
            </a:r>
            <a:endParaRPr lang="vi-VN" dirty="0">
              <a:solidFill>
                <a:sysClr val="windowText" lastClr="000000"/>
              </a:solidFill>
              <a:effectLst/>
              <a:latin typeface="+mj-lt"/>
            </a:endParaRPr>
          </a:p>
          <a:p>
            <a:pPr algn="ctr"/>
            <a:r>
              <a:rPr lang="vi-VN" b="0" i="0" dirty="0">
                <a:solidFill>
                  <a:sysClr val="windowText" lastClr="000000"/>
                </a:solidFill>
                <a:effectLst/>
                <a:latin typeface="+mj-lt"/>
              </a:rPr>
              <a:t>điều hành Windows dưới dạng GUI desktop.</a:t>
            </a:r>
            <a:endParaRPr lang="en-US" dirty="0">
              <a:solidFill>
                <a:sysClr val="windowText" lastClr="000000"/>
              </a:solidFill>
              <a:latin typeface="+mj-lt"/>
            </a:endParaRPr>
          </a:p>
        </p:txBody>
      </p:sp>
    </p:spTree>
    <p:extLst>
      <p:ext uri="{BB962C8B-B14F-4D97-AF65-F5344CB8AC3E}">
        <p14:creationId xmlns:p14="http://schemas.microsoft.com/office/powerpoint/2010/main" val="424125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EBFD4E-268C-DE44-BCFE-2704ADE29418}"/>
              </a:ext>
            </a:extLst>
          </p:cNvPr>
          <p:cNvSpPr txBox="1"/>
          <p:nvPr/>
        </p:nvSpPr>
        <p:spPr>
          <a:xfrm>
            <a:off x="2248678" y="956388"/>
            <a:ext cx="8108302" cy="58477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MỤC TIÊU XÂY DỰNG ĐỀ TÀI</a:t>
            </a:r>
          </a:p>
        </p:txBody>
      </p:sp>
      <p:sp>
        <p:nvSpPr>
          <p:cNvPr id="5" name="TextBox 4">
            <a:extLst>
              <a:ext uri="{FF2B5EF4-FFF2-40B4-BE49-F238E27FC236}">
                <a16:creationId xmlns:a16="http://schemas.microsoft.com/office/drawing/2014/main" id="{3FDD8E06-960B-FA2D-7003-5D630244A7ED}"/>
              </a:ext>
            </a:extLst>
          </p:cNvPr>
          <p:cNvSpPr txBox="1"/>
          <p:nvPr/>
        </p:nvSpPr>
        <p:spPr>
          <a:xfrm>
            <a:off x="131925" y="1541163"/>
            <a:ext cx="12060076" cy="4339650"/>
          </a:xfrm>
          <a:prstGeom prst="rect">
            <a:avLst/>
          </a:prstGeom>
          <a:noFill/>
        </p:spPr>
        <p:txBody>
          <a:bodyPr wrap="square" rtlCol="0">
            <a:spAutoFit/>
          </a:bodyPr>
          <a:lstStyle/>
          <a:p>
            <a:pPr marL="285750" indent="-285750">
              <a:buFont typeface="Arial" panose="020B0604020202020204" pitchFamily="34" charset="0"/>
              <a:buChar char="•"/>
            </a:pPr>
            <a:r>
              <a:rPr lang="vi-VN" b="1" dirty="0"/>
              <a:t>Xây dựng giao diện trực quan:</a:t>
            </a:r>
            <a:r>
              <a:rPr lang="vi-VN" dirty="0"/>
              <a:t> Thiết kế ứng dụng với giao diện thân thiện, cho phép người dùng nhập thông tin tiến trình như </a:t>
            </a:r>
            <a:r>
              <a:rPr lang="vi-VN" i="1" dirty="0"/>
              <a:t>Process ID, Arrival Time, Burst Time, Priority</a:t>
            </a:r>
            <a:r>
              <a:rPr lang="vi-VN" dirty="0"/>
              <a:t> và lựa chọn thuật toán lập lịch CPU</a:t>
            </a:r>
            <a:r>
              <a:rPr lang="en-US" dirty="0"/>
              <a: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vi-VN" b="1" dirty="0">
                <a:latin typeface="+mj-lt"/>
              </a:rPr>
              <a:t>Mô phỏng thuật toán:</a:t>
            </a:r>
            <a:r>
              <a:rPr lang="vi-VN" dirty="0">
                <a:latin typeface="+mj-lt"/>
              </a:rPr>
              <a:t> Triển khai và minh họa trực quan quá trình hoạt động của các thuật toán như </a:t>
            </a:r>
            <a:r>
              <a:rPr lang="vi-VN" b="1" dirty="0">
                <a:latin typeface="+mj-lt"/>
              </a:rPr>
              <a:t>FCFS, SJF, Round Robin và Priority Scheduling</a:t>
            </a:r>
            <a:r>
              <a:rPr lang="vi-VN" dirty="0">
                <a:latin typeface="+mj-lt"/>
              </a:rPr>
              <a:t> thông qua biểu đồ Gantt (Gantt Chart).</a:t>
            </a:r>
            <a:endParaRPr lang="en-US" dirty="0">
              <a:latin typeface="+mj-lt"/>
            </a:endParaRP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vi-VN" b="1" dirty="0">
                <a:latin typeface="+mj-lt"/>
              </a:rPr>
              <a:t>Tính toán chính xác:</a:t>
            </a:r>
            <a:r>
              <a:rPr lang="vi-VN" dirty="0">
                <a:latin typeface="+mj-lt"/>
              </a:rPr>
              <a:t> Hệ thống tự động tính toán các chỉ số quan trọng như </a:t>
            </a:r>
            <a:r>
              <a:rPr lang="vi-VN" b="1" dirty="0">
                <a:latin typeface="+mj-lt"/>
              </a:rPr>
              <a:t>thời gian chờ trung bình (Average Waiting Time)</a:t>
            </a:r>
            <a:r>
              <a:rPr lang="vi-VN" dirty="0">
                <a:latin typeface="+mj-lt"/>
              </a:rPr>
              <a:t>, </a:t>
            </a:r>
            <a:r>
              <a:rPr lang="vi-VN" b="1" dirty="0">
                <a:latin typeface="+mj-lt"/>
              </a:rPr>
              <a:t>thời gian hoàn thành (Turnaround Time)</a:t>
            </a:r>
            <a:r>
              <a:rPr lang="vi-VN" dirty="0">
                <a:latin typeface="+mj-lt"/>
              </a:rPr>
              <a:t> và </a:t>
            </a:r>
            <a:r>
              <a:rPr lang="vi-VN" b="1" dirty="0">
                <a:latin typeface="+mj-lt"/>
              </a:rPr>
              <a:t>Response Time</a:t>
            </a:r>
            <a:r>
              <a:rPr lang="vi-VN" dirty="0">
                <a:latin typeface="+mj-lt"/>
              </a:rPr>
              <a:t>.</a:t>
            </a:r>
            <a:endParaRPr lang="en-US" dirty="0">
              <a:latin typeface="+mj-lt"/>
            </a:endParaRPr>
          </a:p>
          <a:p>
            <a:pPr marL="285750" indent="-285750">
              <a:buFont typeface="Arial" panose="020B0604020202020204" pitchFamily="34" charset="0"/>
              <a:buChar char="•"/>
            </a:pPr>
            <a:endParaRPr lang="en-US" dirty="0">
              <a:latin typeface="+mj-lt"/>
              <a:cs typeface="Times New Roman" panose="02020603050405020304" pitchFamily="18" charset="0"/>
            </a:endParaRPr>
          </a:p>
          <a:p>
            <a:pPr marL="285750" indent="-285750">
              <a:buFont typeface="Arial" panose="020B0604020202020204" pitchFamily="34" charset="0"/>
              <a:buChar char="•"/>
            </a:pPr>
            <a:r>
              <a:rPr lang="vi-VN" b="1" dirty="0">
                <a:latin typeface="+mj-lt"/>
              </a:rPr>
              <a:t>So sánh hiệu năng:</a:t>
            </a:r>
            <a:r>
              <a:rPr lang="vi-VN" dirty="0">
                <a:latin typeface="+mj-lt"/>
              </a:rPr>
              <a:t> Cho phép so sánh kết quả giữa các thuật toán để đánh giá ưu điểm, nhược điểm và mức độ tối ưu trong từng trường hợp.</a:t>
            </a:r>
            <a:endParaRPr lang="en-US" dirty="0">
              <a:latin typeface="+mj-lt"/>
            </a:endParaRPr>
          </a:p>
          <a:p>
            <a:pPr marL="285750" indent="-285750">
              <a:buFont typeface="Arial" panose="020B0604020202020204" pitchFamily="34" charset="0"/>
              <a:buChar char="•"/>
            </a:pPr>
            <a:endParaRPr lang="en-US" dirty="0">
              <a:latin typeface="+mj-lt"/>
              <a:cs typeface="Times New Roman" panose="02020603050405020304" pitchFamily="18" charset="0"/>
            </a:endParaRPr>
          </a:p>
          <a:p>
            <a:pPr marL="285750" indent="-285750">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Hỗ</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học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tập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nghiên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cứu</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Giúp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dễ</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dàng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hiểu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CPU Scheduling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phỏng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thuyết</a:t>
            </a:r>
            <a:r>
              <a:rPr lang="en-US"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5375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E9AB46-2652-DFDE-0EA7-938269B0A319}"/>
              </a:ext>
            </a:extLst>
          </p:cNvPr>
          <p:cNvSpPr txBox="1"/>
          <p:nvPr/>
        </p:nvSpPr>
        <p:spPr>
          <a:xfrm>
            <a:off x="3689726" y="997527"/>
            <a:ext cx="4290491" cy="646331"/>
          </a:xfrm>
          <a:prstGeom prst="rect">
            <a:avLst/>
          </a:prstGeom>
          <a:noFill/>
        </p:spPr>
        <p:txBody>
          <a:bodyPr wrap="square" rtlCol="0">
            <a:spAutoFit/>
          </a:bodyPr>
          <a:lstStyle/>
          <a:p>
            <a:r>
              <a:rPr lang="en-US" sz="3600" dirty="0">
                <a:solidFill>
                  <a:srgbClr val="FF0000"/>
                </a:solidFill>
              </a:rPr>
              <a:t>TECHNOLOGY STACK</a:t>
            </a:r>
          </a:p>
        </p:txBody>
      </p:sp>
      <p:grpSp>
        <p:nvGrpSpPr>
          <p:cNvPr id="5" name="Group 4">
            <a:extLst>
              <a:ext uri="{FF2B5EF4-FFF2-40B4-BE49-F238E27FC236}">
                <a16:creationId xmlns:a16="http://schemas.microsoft.com/office/drawing/2014/main" id="{B07F03AD-4C22-FC72-FE34-47396D42F255}"/>
              </a:ext>
            </a:extLst>
          </p:cNvPr>
          <p:cNvGrpSpPr/>
          <p:nvPr/>
        </p:nvGrpSpPr>
        <p:grpSpPr>
          <a:xfrm>
            <a:off x="360218" y="1625385"/>
            <a:ext cx="2090124" cy="369332"/>
            <a:chOff x="363483" y="1477819"/>
            <a:chExt cx="2090124" cy="369332"/>
          </a:xfrm>
        </p:grpSpPr>
        <p:sp>
          <p:nvSpPr>
            <p:cNvPr id="4" name="Rectangle 3">
              <a:extLst>
                <a:ext uri="{FF2B5EF4-FFF2-40B4-BE49-F238E27FC236}">
                  <a16:creationId xmlns:a16="http://schemas.microsoft.com/office/drawing/2014/main" id="{0042D21D-727B-7E1C-AF53-114D8D909262}"/>
                </a:ext>
              </a:extLst>
            </p:cNvPr>
            <p:cNvSpPr/>
            <p:nvPr/>
          </p:nvSpPr>
          <p:spPr>
            <a:xfrm>
              <a:off x="415636" y="1477819"/>
              <a:ext cx="1985818"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ACAB2F5-A684-48AF-72DB-153FBD5AF99F}"/>
                </a:ext>
              </a:extLst>
            </p:cNvPr>
            <p:cNvSpPr txBox="1"/>
            <p:nvPr/>
          </p:nvSpPr>
          <p:spPr>
            <a:xfrm>
              <a:off x="363483" y="1477819"/>
              <a:ext cx="2090124" cy="369332"/>
            </a:xfrm>
            <a:prstGeom prst="rect">
              <a:avLst/>
            </a:prstGeom>
            <a:noFill/>
          </p:spPr>
          <p:txBody>
            <a:bodyPr wrap="none" rtlCol="0">
              <a:spAutoFit/>
            </a:bodyPr>
            <a:lstStyle/>
            <a:p>
              <a:r>
                <a:rPr lang="en-US" dirty="0" err="1">
                  <a:solidFill>
                    <a:schemeClr val="bg1"/>
                  </a:solidFill>
                </a:rPr>
                <a:t>Ngôn</a:t>
              </a:r>
              <a:r>
                <a:rPr lang="en-US" dirty="0">
                  <a:solidFill>
                    <a:schemeClr val="bg1"/>
                  </a:solidFill>
                </a:rPr>
                <a:t> </a:t>
              </a:r>
              <a:r>
                <a:rPr lang="en-US" dirty="0" err="1">
                  <a:solidFill>
                    <a:schemeClr val="bg1"/>
                  </a:solidFill>
                </a:rPr>
                <a:t>ngữ</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triển</a:t>
              </a:r>
              <a:endParaRPr lang="en-US" dirty="0">
                <a:solidFill>
                  <a:schemeClr val="bg1"/>
                </a:solidFill>
              </a:endParaRPr>
            </a:p>
          </p:txBody>
        </p:sp>
      </p:grpSp>
      <p:sp>
        <p:nvSpPr>
          <p:cNvPr id="6" name="TextBox 5">
            <a:extLst>
              <a:ext uri="{FF2B5EF4-FFF2-40B4-BE49-F238E27FC236}">
                <a16:creationId xmlns:a16="http://schemas.microsoft.com/office/drawing/2014/main" id="{8364B39A-E762-C4DD-D509-CF3898623CF9}"/>
              </a:ext>
            </a:extLst>
          </p:cNvPr>
          <p:cNvSpPr txBox="1"/>
          <p:nvPr/>
        </p:nvSpPr>
        <p:spPr>
          <a:xfrm>
            <a:off x="489527" y="2114836"/>
            <a:ext cx="829138" cy="369332"/>
          </a:xfrm>
          <a:prstGeom prst="rect">
            <a:avLst/>
          </a:prstGeom>
          <a:noFill/>
        </p:spPr>
        <p:txBody>
          <a:bodyPr wrap="none" rtlCol="0">
            <a:spAutoFit/>
          </a:bodyPr>
          <a:lstStyle/>
          <a:p>
            <a:pPr marL="285750" indent="-285750">
              <a:buFont typeface="Arial" panose="020B0604020202020204" pitchFamily="34" charset="0"/>
              <a:buChar char="•"/>
            </a:pPr>
            <a:r>
              <a:rPr lang="en-US" dirty="0"/>
              <a:t>C++</a:t>
            </a:r>
          </a:p>
        </p:txBody>
      </p:sp>
      <p:grpSp>
        <p:nvGrpSpPr>
          <p:cNvPr id="7" name="Group 6">
            <a:extLst>
              <a:ext uri="{FF2B5EF4-FFF2-40B4-BE49-F238E27FC236}">
                <a16:creationId xmlns:a16="http://schemas.microsoft.com/office/drawing/2014/main" id="{A26404FC-8827-E465-E887-D411DA863101}"/>
              </a:ext>
            </a:extLst>
          </p:cNvPr>
          <p:cNvGrpSpPr/>
          <p:nvPr/>
        </p:nvGrpSpPr>
        <p:grpSpPr>
          <a:xfrm>
            <a:off x="3689726" y="1643858"/>
            <a:ext cx="3944562" cy="369332"/>
            <a:chOff x="-310961" y="1477819"/>
            <a:chExt cx="3746041" cy="369332"/>
          </a:xfrm>
        </p:grpSpPr>
        <p:sp>
          <p:nvSpPr>
            <p:cNvPr id="8" name="Rectangle 7">
              <a:extLst>
                <a:ext uri="{FF2B5EF4-FFF2-40B4-BE49-F238E27FC236}">
                  <a16:creationId xmlns:a16="http://schemas.microsoft.com/office/drawing/2014/main" id="{B976D131-387E-B285-E358-BE1E9F84A4B4}"/>
                </a:ext>
              </a:extLst>
            </p:cNvPr>
            <p:cNvSpPr/>
            <p:nvPr/>
          </p:nvSpPr>
          <p:spPr>
            <a:xfrm>
              <a:off x="-310961" y="1477819"/>
              <a:ext cx="374604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B6FC666-901F-6396-3DE1-6E6272543E48}"/>
                </a:ext>
              </a:extLst>
            </p:cNvPr>
            <p:cNvSpPr txBox="1"/>
            <p:nvPr/>
          </p:nvSpPr>
          <p:spPr>
            <a:xfrm>
              <a:off x="-261432" y="1477819"/>
              <a:ext cx="3696512" cy="369332"/>
            </a:xfrm>
            <a:prstGeom prst="rect">
              <a:avLst/>
            </a:prstGeom>
            <a:noFill/>
          </p:spPr>
          <p:txBody>
            <a:bodyPr wrap="square" rtlCol="0">
              <a:spAutoFit/>
            </a:bodyPr>
            <a:lstStyle/>
            <a:p>
              <a:r>
                <a:rPr lang="vi-VN" dirty="0">
                  <a:solidFill>
                    <a:schemeClr val="bg1"/>
                  </a:solidFill>
                </a:rPr>
                <a:t>Môi trường phát triển &amp; Framework</a:t>
              </a:r>
              <a:endParaRPr lang="en-US" dirty="0">
                <a:solidFill>
                  <a:schemeClr val="bg1"/>
                </a:solidFill>
              </a:endParaRPr>
            </a:p>
          </p:txBody>
        </p:sp>
      </p:grpSp>
      <p:grpSp>
        <p:nvGrpSpPr>
          <p:cNvPr id="10" name="Group 9">
            <a:extLst>
              <a:ext uri="{FF2B5EF4-FFF2-40B4-BE49-F238E27FC236}">
                <a16:creationId xmlns:a16="http://schemas.microsoft.com/office/drawing/2014/main" id="{DEF581B8-18A0-930E-0362-848677166441}"/>
              </a:ext>
            </a:extLst>
          </p:cNvPr>
          <p:cNvGrpSpPr/>
          <p:nvPr/>
        </p:nvGrpSpPr>
        <p:grpSpPr>
          <a:xfrm>
            <a:off x="1775293" y="4003810"/>
            <a:ext cx="2951834" cy="387805"/>
            <a:chOff x="2272145" y="3768437"/>
            <a:chExt cx="2951834" cy="387805"/>
          </a:xfrm>
        </p:grpSpPr>
        <p:sp>
          <p:nvSpPr>
            <p:cNvPr id="11" name="Rectangle 10">
              <a:extLst>
                <a:ext uri="{FF2B5EF4-FFF2-40B4-BE49-F238E27FC236}">
                  <a16:creationId xmlns:a16="http://schemas.microsoft.com/office/drawing/2014/main" id="{B59E37FE-B8E4-30D9-B0ED-F2F6190A287B}"/>
                </a:ext>
              </a:extLst>
            </p:cNvPr>
            <p:cNvSpPr/>
            <p:nvPr/>
          </p:nvSpPr>
          <p:spPr>
            <a:xfrm>
              <a:off x="2272145" y="3768437"/>
              <a:ext cx="295183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5080393-E337-0BC4-AE0A-074C4425C806}"/>
                </a:ext>
              </a:extLst>
            </p:cNvPr>
            <p:cNvSpPr txBox="1"/>
            <p:nvPr/>
          </p:nvSpPr>
          <p:spPr>
            <a:xfrm>
              <a:off x="2272145" y="3786910"/>
              <a:ext cx="2951834" cy="369332"/>
            </a:xfrm>
            <a:prstGeom prst="rect">
              <a:avLst/>
            </a:prstGeom>
            <a:noFill/>
          </p:spPr>
          <p:txBody>
            <a:bodyPr wrap="none" rtlCol="0">
              <a:spAutoFit/>
            </a:bodyPr>
            <a:lstStyle/>
            <a:p>
              <a:r>
                <a:rPr lang="en-US" dirty="0" err="1">
                  <a:solidFill>
                    <a:schemeClr val="bg1"/>
                  </a:solidFill>
                </a:rPr>
                <a:t>Xử</a:t>
              </a:r>
              <a:r>
                <a:rPr lang="en-US" dirty="0">
                  <a:solidFill>
                    <a:schemeClr val="bg1"/>
                  </a:solidFill>
                </a:rPr>
                <a:t> </a:t>
              </a:r>
              <a:r>
                <a:rPr lang="en-US" dirty="0" err="1">
                  <a:solidFill>
                    <a:schemeClr val="bg1"/>
                  </a:solidFill>
                </a:rPr>
                <a:t>lý</a:t>
              </a:r>
              <a:r>
                <a:rPr lang="en-US" dirty="0">
                  <a:solidFill>
                    <a:schemeClr val="bg1"/>
                  </a:solidFill>
                </a:rPr>
                <a:t> </a:t>
              </a:r>
              <a:r>
                <a:rPr lang="en-US" dirty="0" err="1">
                  <a:solidFill>
                    <a:schemeClr val="bg1"/>
                  </a:solidFill>
                </a:rPr>
                <a:t>dữ</a:t>
              </a:r>
              <a:r>
                <a:rPr lang="en-US" dirty="0">
                  <a:solidFill>
                    <a:schemeClr val="bg1"/>
                  </a:solidFill>
                </a:rPr>
                <a:t> </a:t>
              </a:r>
              <a:r>
                <a:rPr lang="en-US" dirty="0" err="1">
                  <a:solidFill>
                    <a:schemeClr val="bg1"/>
                  </a:solidFill>
                </a:rPr>
                <a:t>liệu</a:t>
              </a:r>
              <a:r>
                <a:rPr lang="en-US" dirty="0">
                  <a:solidFill>
                    <a:schemeClr val="bg1"/>
                  </a:solidFill>
                </a:rPr>
                <a:t> </a:t>
              </a:r>
              <a:r>
                <a:rPr lang="en-US" dirty="0" err="1">
                  <a:solidFill>
                    <a:schemeClr val="bg1"/>
                  </a:solidFill>
                </a:rPr>
                <a:t>đầu</a:t>
              </a:r>
              <a:r>
                <a:rPr lang="en-US" dirty="0">
                  <a:solidFill>
                    <a:schemeClr val="bg1"/>
                  </a:solidFill>
                </a:rPr>
                <a:t> </a:t>
              </a:r>
              <a:r>
                <a:rPr lang="en-US" dirty="0" err="1">
                  <a:solidFill>
                    <a:schemeClr val="bg1"/>
                  </a:solidFill>
                </a:rPr>
                <a:t>vào</a:t>
              </a:r>
              <a:r>
                <a:rPr lang="en-US" dirty="0">
                  <a:solidFill>
                    <a:schemeClr val="bg1"/>
                  </a:solidFill>
                </a:rPr>
                <a:t> / </a:t>
              </a:r>
              <a:r>
                <a:rPr lang="en-US" dirty="0" err="1">
                  <a:solidFill>
                    <a:schemeClr val="bg1"/>
                  </a:solidFill>
                </a:rPr>
                <a:t>đầu</a:t>
              </a:r>
              <a:r>
                <a:rPr lang="en-US" dirty="0">
                  <a:solidFill>
                    <a:schemeClr val="bg1"/>
                  </a:solidFill>
                </a:rPr>
                <a:t> </a:t>
              </a:r>
              <a:r>
                <a:rPr lang="en-US" dirty="0" err="1">
                  <a:solidFill>
                    <a:schemeClr val="bg1"/>
                  </a:solidFill>
                </a:rPr>
                <a:t>ra</a:t>
              </a:r>
              <a:endParaRPr lang="en-US" dirty="0">
                <a:solidFill>
                  <a:schemeClr val="bg1"/>
                </a:solidFill>
              </a:endParaRPr>
            </a:p>
          </p:txBody>
        </p:sp>
      </p:grpSp>
      <p:grpSp>
        <p:nvGrpSpPr>
          <p:cNvPr id="13" name="Group 12">
            <a:extLst>
              <a:ext uri="{FF2B5EF4-FFF2-40B4-BE49-F238E27FC236}">
                <a16:creationId xmlns:a16="http://schemas.microsoft.com/office/drawing/2014/main" id="{D92969E9-4392-1FCA-4355-BCCA7F153132}"/>
              </a:ext>
            </a:extLst>
          </p:cNvPr>
          <p:cNvGrpSpPr/>
          <p:nvPr/>
        </p:nvGrpSpPr>
        <p:grpSpPr>
          <a:xfrm>
            <a:off x="8336536" y="1624955"/>
            <a:ext cx="4012481" cy="378783"/>
            <a:chOff x="-177486" y="1468154"/>
            <a:chExt cx="3892408" cy="378783"/>
          </a:xfrm>
        </p:grpSpPr>
        <p:sp>
          <p:nvSpPr>
            <p:cNvPr id="14" name="Rectangle 13">
              <a:extLst>
                <a:ext uri="{FF2B5EF4-FFF2-40B4-BE49-F238E27FC236}">
                  <a16:creationId xmlns:a16="http://schemas.microsoft.com/office/drawing/2014/main" id="{5AE2A132-9975-C8AD-4734-AEABBF67C089}"/>
                </a:ext>
              </a:extLst>
            </p:cNvPr>
            <p:cNvSpPr/>
            <p:nvPr/>
          </p:nvSpPr>
          <p:spPr>
            <a:xfrm>
              <a:off x="-108129" y="1477605"/>
              <a:ext cx="3463636"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AB8E34B-F0EB-6634-718D-FCFDE4EB3F57}"/>
                </a:ext>
              </a:extLst>
            </p:cNvPr>
            <p:cNvSpPr txBox="1"/>
            <p:nvPr/>
          </p:nvSpPr>
          <p:spPr>
            <a:xfrm>
              <a:off x="-177486" y="1468154"/>
              <a:ext cx="3892408" cy="369332"/>
            </a:xfrm>
            <a:prstGeom prst="rect">
              <a:avLst/>
            </a:prstGeom>
            <a:noFill/>
          </p:spPr>
          <p:txBody>
            <a:bodyPr wrap="square" rtlCol="0">
              <a:spAutoFit/>
            </a:bodyPr>
            <a:lstStyle/>
            <a:p>
              <a:r>
                <a:rPr lang="en-US" dirty="0">
                  <a:solidFill>
                    <a:schemeClr val="bg1"/>
                  </a:solidFill>
                </a:rPr>
                <a:t>Quản </a:t>
              </a:r>
              <a:r>
                <a:rPr lang="en-US" dirty="0" err="1">
                  <a:solidFill>
                    <a:schemeClr val="bg1"/>
                  </a:solidFill>
                </a:rPr>
                <a:t>lý</a:t>
              </a:r>
              <a:r>
                <a:rPr lang="en-US" dirty="0">
                  <a:solidFill>
                    <a:schemeClr val="bg1"/>
                  </a:solidFill>
                </a:rPr>
                <a:t> source code &amp; </a:t>
              </a:r>
              <a:r>
                <a:rPr lang="en-US" dirty="0" err="1">
                  <a:solidFill>
                    <a:schemeClr val="bg1"/>
                  </a:solidFill>
                </a:rPr>
                <a:t>cộng</a:t>
              </a:r>
              <a:r>
                <a:rPr lang="en-US" dirty="0">
                  <a:solidFill>
                    <a:schemeClr val="bg1"/>
                  </a:solidFill>
                </a:rPr>
                <a:t> </a:t>
              </a:r>
              <a:r>
                <a:rPr lang="en-US" dirty="0" err="1">
                  <a:solidFill>
                    <a:schemeClr val="bg1"/>
                  </a:solidFill>
                </a:rPr>
                <a:t>tác</a:t>
              </a:r>
              <a:r>
                <a:rPr lang="en-US" dirty="0">
                  <a:solidFill>
                    <a:schemeClr val="bg1"/>
                  </a:solidFill>
                </a:rPr>
                <a:t> </a:t>
              </a:r>
              <a:r>
                <a:rPr lang="en-US" dirty="0" err="1">
                  <a:solidFill>
                    <a:schemeClr val="bg1"/>
                  </a:solidFill>
                </a:rPr>
                <a:t>nhóm</a:t>
              </a:r>
              <a:endParaRPr lang="en-US" dirty="0">
                <a:solidFill>
                  <a:schemeClr val="bg1"/>
                </a:solidFill>
              </a:endParaRPr>
            </a:p>
          </p:txBody>
        </p:sp>
      </p:grpSp>
      <p:grpSp>
        <p:nvGrpSpPr>
          <p:cNvPr id="16" name="Group 15">
            <a:extLst>
              <a:ext uri="{FF2B5EF4-FFF2-40B4-BE49-F238E27FC236}">
                <a16:creationId xmlns:a16="http://schemas.microsoft.com/office/drawing/2014/main" id="{27B78F50-CC3C-952B-7B57-BE4F478D0EE8}"/>
              </a:ext>
            </a:extLst>
          </p:cNvPr>
          <p:cNvGrpSpPr/>
          <p:nvPr/>
        </p:nvGrpSpPr>
        <p:grpSpPr>
          <a:xfrm>
            <a:off x="6825805" y="3984907"/>
            <a:ext cx="3164456" cy="388235"/>
            <a:chOff x="388615" y="1458916"/>
            <a:chExt cx="3164456" cy="388235"/>
          </a:xfrm>
        </p:grpSpPr>
        <p:sp>
          <p:nvSpPr>
            <p:cNvPr id="17" name="Rectangle 16">
              <a:extLst>
                <a:ext uri="{FF2B5EF4-FFF2-40B4-BE49-F238E27FC236}">
                  <a16:creationId xmlns:a16="http://schemas.microsoft.com/office/drawing/2014/main" id="{54F502ED-0898-A56C-CFF2-8291BE9C2A54}"/>
                </a:ext>
              </a:extLst>
            </p:cNvPr>
            <p:cNvSpPr/>
            <p:nvPr/>
          </p:nvSpPr>
          <p:spPr>
            <a:xfrm>
              <a:off x="415636" y="1477819"/>
              <a:ext cx="3065938"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8CA0C03-1F3F-8319-082C-8376454AC6C7}"/>
                </a:ext>
              </a:extLst>
            </p:cNvPr>
            <p:cNvSpPr txBox="1"/>
            <p:nvPr/>
          </p:nvSpPr>
          <p:spPr>
            <a:xfrm>
              <a:off x="388615" y="1458916"/>
              <a:ext cx="3164456" cy="369332"/>
            </a:xfrm>
            <a:prstGeom prst="rect">
              <a:avLst/>
            </a:prstGeom>
            <a:noFill/>
          </p:spPr>
          <p:txBody>
            <a:bodyPr wrap="none" rtlCol="0">
              <a:spAutoFit/>
            </a:bodyPr>
            <a:lstStyle/>
            <a:p>
              <a:r>
                <a:rPr lang="en-US" dirty="0">
                  <a:solidFill>
                    <a:schemeClr val="bg1"/>
                  </a:solidFill>
                </a:rPr>
                <a:t>Phân </a:t>
              </a:r>
              <a:r>
                <a:rPr lang="en-US" dirty="0" err="1">
                  <a:solidFill>
                    <a:schemeClr val="bg1"/>
                  </a:solidFill>
                </a:rPr>
                <a:t>tích</a:t>
              </a:r>
              <a:r>
                <a:rPr lang="en-US" dirty="0">
                  <a:solidFill>
                    <a:schemeClr val="bg1"/>
                  </a:solidFill>
                </a:rPr>
                <a:t> </a:t>
              </a:r>
              <a:r>
                <a:rPr lang="en-US" dirty="0" err="1">
                  <a:solidFill>
                    <a:schemeClr val="bg1"/>
                  </a:solidFill>
                </a:rPr>
                <a:t>và</a:t>
              </a:r>
              <a:r>
                <a:rPr lang="en-US" dirty="0">
                  <a:solidFill>
                    <a:schemeClr val="bg1"/>
                  </a:solidFill>
                </a:rPr>
                <a:t> </a:t>
              </a:r>
              <a:r>
                <a:rPr lang="en-US" dirty="0" err="1">
                  <a:solidFill>
                    <a:schemeClr val="bg1"/>
                  </a:solidFill>
                </a:rPr>
                <a:t>đánh</a:t>
              </a:r>
              <a:r>
                <a:rPr lang="en-US" dirty="0">
                  <a:solidFill>
                    <a:schemeClr val="bg1"/>
                  </a:solidFill>
                </a:rPr>
                <a:t> </a:t>
              </a:r>
              <a:r>
                <a:rPr lang="en-US" dirty="0" err="1">
                  <a:solidFill>
                    <a:schemeClr val="bg1"/>
                  </a:solidFill>
                </a:rPr>
                <a:t>giá</a:t>
              </a:r>
              <a:r>
                <a:rPr lang="en-US" dirty="0">
                  <a:solidFill>
                    <a:schemeClr val="bg1"/>
                  </a:solidFill>
                </a:rPr>
                <a:t> </a:t>
              </a:r>
              <a:r>
                <a:rPr lang="en-US" dirty="0" err="1">
                  <a:solidFill>
                    <a:schemeClr val="bg1"/>
                  </a:solidFill>
                </a:rPr>
                <a:t>hiệu</a:t>
              </a:r>
              <a:r>
                <a:rPr lang="en-US" dirty="0">
                  <a:solidFill>
                    <a:schemeClr val="bg1"/>
                  </a:solidFill>
                </a:rPr>
                <a:t> </a:t>
              </a:r>
              <a:r>
                <a:rPr lang="en-US" dirty="0" err="1">
                  <a:solidFill>
                    <a:schemeClr val="bg1"/>
                  </a:solidFill>
                </a:rPr>
                <a:t>năng</a:t>
              </a:r>
              <a:endParaRPr lang="en-US" dirty="0">
                <a:solidFill>
                  <a:schemeClr val="bg1"/>
                </a:solidFill>
              </a:endParaRPr>
            </a:p>
          </p:txBody>
        </p:sp>
      </p:grpSp>
      <p:sp>
        <p:nvSpPr>
          <p:cNvPr id="19" name="TextBox 18">
            <a:extLst>
              <a:ext uri="{FF2B5EF4-FFF2-40B4-BE49-F238E27FC236}">
                <a16:creationId xmlns:a16="http://schemas.microsoft.com/office/drawing/2014/main" id="{3E7D5C7F-5AAF-C139-FEE8-02A99FAF0178}"/>
              </a:ext>
            </a:extLst>
          </p:cNvPr>
          <p:cNvSpPr txBox="1"/>
          <p:nvPr/>
        </p:nvSpPr>
        <p:spPr>
          <a:xfrm>
            <a:off x="3689726" y="2085170"/>
            <a:ext cx="3892408" cy="923330"/>
          </a:xfrm>
          <a:prstGeom prst="rect">
            <a:avLst/>
          </a:prstGeom>
          <a:noFill/>
        </p:spPr>
        <p:txBody>
          <a:bodyPr wrap="square" rtlCol="0">
            <a:spAutoFit/>
          </a:bodyPr>
          <a:lstStyle/>
          <a:p>
            <a:pPr marL="285750" indent="-285750">
              <a:buFont typeface="Arial" panose="020B0604020202020204" pitchFamily="34" charset="0"/>
              <a:buChar char="•"/>
            </a:pPr>
            <a:r>
              <a:rPr lang="vi-VN" dirty="0"/>
              <a:t>Sử dụng </a:t>
            </a:r>
            <a:r>
              <a:rPr lang="vi-VN" b="1" dirty="0"/>
              <a:t>Qt Widgets</a:t>
            </a:r>
            <a:r>
              <a:rPr lang="vi-VN" dirty="0"/>
              <a:t> để thiết kế giao diện người dùng trực quan và phát triển trên </a:t>
            </a:r>
            <a:r>
              <a:rPr lang="vi-VN" b="1" dirty="0"/>
              <a:t>Qt Creator</a:t>
            </a:r>
            <a:endParaRPr lang="en-US" dirty="0"/>
          </a:p>
        </p:txBody>
      </p:sp>
      <p:sp>
        <p:nvSpPr>
          <p:cNvPr id="20" name="TextBox 19">
            <a:extLst>
              <a:ext uri="{FF2B5EF4-FFF2-40B4-BE49-F238E27FC236}">
                <a16:creationId xmlns:a16="http://schemas.microsoft.com/office/drawing/2014/main" id="{04D59EF8-DAF3-9F16-2A6B-9152208589CD}"/>
              </a:ext>
            </a:extLst>
          </p:cNvPr>
          <p:cNvSpPr txBox="1"/>
          <p:nvPr/>
        </p:nvSpPr>
        <p:spPr>
          <a:xfrm>
            <a:off x="8408033" y="2114836"/>
            <a:ext cx="3087718" cy="1200329"/>
          </a:xfrm>
          <a:prstGeom prst="rect">
            <a:avLst/>
          </a:prstGeom>
          <a:noFill/>
        </p:spPr>
        <p:txBody>
          <a:bodyPr wrap="square" rtlCol="0">
            <a:spAutoFit/>
          </a:bodyPr>
          <a:lstStyle/>
          <a:p>
            <a:pPr marL="285750" indent="-285750">
              <a:buFont typeface="Arial" panose="020B0604020202020204" pitchFamily="34" charset="0"/>
              <a:buChar char="•"/>
            </a:pPr>
            <a:r>
              <a:rPr lang="vi-VN" dirty="0"/>
              <a:t>Sử dụng </a:t>
            </a:r>
            <a:r>
              <a:rPr lang="vi-VN" b="1" dirty="0"/>
              <a:t>GitHub</a:t>
            </a:r>
            <a:r>
              <a:rPr lang="vi-VN" dirty="0"/>
              <a:t> để lưu trữ mã nguồn, quản lý phiên bản và hỗ trợ làm việc nhóm hiệu quả.</a:t>
            </a:r>
            <a:endParaRPr lang="en-US" dirty="0"/>
          </a:p>
        </p:txBody>
      </p:sp>
      <p:sp>
        <p:nvSpPr>
          <p:cNvPr id="21" name="TextBox 20">
            <a:extLst>
              <a:ext uri="{FF2B5EF4-FFF2-40B4-BE49-F238E27FC236}">
                <a16:creationId xmlns:a16="http://schemas.microsoft.com/office/drawing/2014/main" id="{A3CA2B10-2A4C-CC3B-FD10-FA73C74A8A0C}"/>
              </a:ext>
            </a:extLst>
          </p:cNvPr>
          <p:cNvSpPr txBox="1"/>
          <p:nvPr/>
        </p:nvSpPr>
        <p:spPr>
          <a:xfrm>
            <a:off x="1775293" y="4609436"/>
            <a:ext cx="2741309" cy="1754326"/>
          </a:xfrm>
          <a:prstGeom prst="rect">
            <a:avLst/>
          </a:prstGeom>
          <a:noFill/>
        </p:spPr>
        <p:txBody>
          <a:bodyPr wrap="square" rtlCol="0">
            <a:spAutoFit/>
          </a:bodyPr>
          <a:lstStyle/>
          <a:p>
            <a:pPr marL="285750" indent="-285750">
              <a:buFont typeface="Arial" panose="020B0604020202020204" pitchFamily="34" charset="0"/>
              <a:buChar char="•"/>
            </a:pPr>
            <a:r>
              <a:rPr lang="vi-VN" dirty="0"/>
              <a:t>Sử dụng các thư viện của Qt như </a:t>
            </a:r>
            <a:r>
              <a:rPr lang="vi-VN" b="1" dirty="0"/>
              <a:t>QFileDialog</a:t>
            </a:r>
            <a:r>
              <a:rPr lang="vi-VN" dirty="0"/>
              <a:t> và </a:t>
            </a:r>
            <a:r>
              <a:rPr lang="vi-VN" b="1" dirty="0"/>
              <a:t>QTextStream</a:t>
            </a:r>
            <a:r>
              <a:rPr lang="vi-VN" dirty="0"/>
              <a:t> để đọc, ghi và xuất dữ liệu từ file CSV.</a:t>
            </a:r>
            <a:endParaRPr lang="en-US" dirty="0"/>
          </a:p>
        </p:txBody>
      </p:sp>
      <p:sp>
        <p:nvSpPr>
          <p:cNvPr id="22" name="TextBox 21">
            <a:extLst>
              <a:ext uri="{FF2B5EF4-FFF2-40B4-BE49-F238E27FC236}">
                <a16:creationId xmlns:a16="http://schemas.microsoft.com/office/drawing/2014/main" id="{DD34B43A-0CB0-57EF-B62E-6F102E95A1BA}"/>
              </a:ext>
            </a:extLst>
          </p:cNvPr>
          <p:cNvSpPr txBox="1"/>
          <p:nvPr/>
        </p:nvSpPr>
        <p:spPr>
          <a:xfrm>
            <a:off x="6825805" y="4609436"/>
            <a:ext cx="3164456" cy="1477328"/>
          </a:xfrm>
          <a:prstGeom prst="rect">
            <a:avLst/>
          </a:prstGeom>
          <a:noFill/>
        </p:spPr>
        <p:txBody>
          <a:bodyPr wrap="square" rtlCol="0">
            <a:spAutoFit/>
          </a:bodyPr>
          <a:lstStyle/>
          <a:p>
            <a:pPr marL="285750" indent="-285750">
              <a:buFont typeface="Arial" panose="020B0604020202020204" pitchFamily="34" charset="0"/>
              <a:buChar char="•"/>
            </a:pPr>
            <a:r>
              <a:rPr lang="vi-VN" dirty="0"/>
              <a:t>Ứng dụng hỗ trợ tính toán các chỉ số như </a:t>
            </a:r>
            <a:r>
              <a:rPr lang="vi-VN" b="1" dirty="0"/>
              <a:t>Waiting Time</a:t>
            </a:r>
            <a:r>
              <a:rPr lang="vi-VN" dirty="0"/>
              <a:t>, </a:t>
            </a:r>
            <a:r>
              <a:rPr lang="vi-VN" b="1" dirty="0"/>
              <a:t>Turnaround Time</a:t>
            </a:r>
            <a:r>
              <a:rPr lang="vi-VN" dirty="0"/>
              <a:t> và đo thời gian chạy của từng thuật toán.</a:t>
            </a:r>
            <a:endParaRPr lang="en-US" dirty="0"/>
          </a:p>
        </p:txBody>
      </p:sp>
    </p:spTree>
    <p:extLst>
      <p:ext uri="{BB962C8B-B14F-4D97-AF65-F5344CB8AC3E}">
        <p14:creationId xmlns:p14="http://schemas.microsoft.com/office/powerpoint/2010/main" val="1519089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258AEB92-43E7-B225-CA02-6FC9EE0F0A2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57002D1-DB29-7DD5-D51B-0FE33ADB19A6}"/>
              </a:ext>
            </a:extLst>
          </p:cNvPr>
          <p:cNvSpPr/>
          <p:nvPr/>
        </p:nvSpPr>
        <p:spPr>
          <a:xfrm>
            <a:off x="0" y="960582"/>
            <a:ext cx="12192000" cy="7758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2C10F0F-60DE-72DE-32CE-67D653739AAA}"/>
              </a:ext>
            </a:extLst>
          </p:cNvPr>
          <p:cNvSpPr txBox="1"/>
          <p:nvPr/>
        </p:nvSpPr>
        <p:spPr>
          <a:xfrm>
            <a:off x="-166254" y="1056121"/>
            <a:ext cx="12192000" cy="584775"/>
          </a:xfrm>
          <a:prstGeom prst="rect">
            <a:avLst/>
          </a:prstGeom>
          <a:noFill/>
        </p:spPr>
        <p:txBody>
          <a:bodyPr wrap="square" rtlCol="0">
            <a:spAutoFit/>
          </a:bodyPr>
          <a:lstStyle/>
          <a:p>
            <a:pPr algn="ctr"/>
            <a:r>
              <a:rPr lang="en-US" sz="3200" dirty="0">
                <a:solidFill>
                  <a:schemeClr val="bg1"/>
                </a:solidFill>
              </a:rPr>
              <a:t>THUẬT TOÁN PRIORITY</a:t>
            </a:r>
          </a:p>
        </p:txBody>
      </p:sp>
      <p:sp>
        <p:nvSpPr>
          <p:cNvPr id="6" name="TextBox 5">
            <a:extLst>
              <a:ext uri="{FF2B5EF4-FFF2-40B4-BE49-F238E27FC236}">
                <a16:creationId xmlns:a16="http://schemas.microsoft.com/office/drawing/2014/main" id="{CC3E6CAF-CEAD-98EA-48E0-831BAD80B558}"/>
              </a:ext>
            </a:extLst>
          </p:cNvPr>
          <p:cNvSpPr txBox="1"/>
          <p:nvPr/>
        </p:nvSpPr>
        <p:spPr>
          <a:xfrm>
            <a:off x="0" y="1736435"/>
            <a:ext cx="9319491" cy="1384995"/>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GIỚI THIỆU</a:t>
            </a:r>
          </a:p>
          <a:p>
            <a:pPr marL="285750" indent="-285750">
              <a:buFont typeface="Arial" panose="020B0604020202020204" pitchFamily="34" charset="0"/>
              <a:buChar char="•"/>
            </a:pPr>
            <a:r>
              <a:rPr lang="vi-VN" sz="1600"/>
              <a:t>Priority Scheduling là thuật toán lập lịch CPU dựa trên </a:t>
            </a:r>
            <a:r>
              <a:rPr lang="vi-VN" sz="1600" b="1"/>
              <a:t>mức độ ưu tiên của tiến trình</a:t>
            </a:r>
            <a:endParaRPr lang="en-US" sz="1600" b="1"/>
          </a:p>
          <a:p>
            <a:pPr marL="285750" indent="-285750">
              <a:buFont typeface="Arial" panose="020B0604020202020204" pitchFamily="34" charset="0"/>
              <a:buChar char="•"/>
            </a:pPr>
            <a:r>
              <a:rPr lang="en-US" sz="1600"/>
              <a:t>CPU sẽ cấp cho tiến trình có </a:t>
            </a:r>
            <a:r>
              <a:rPr lang="en-US" sz="1600" b="1"/>
              <a:t>Priority cao nhất</a:t>
            </a:r>
          </a:p>
          <a:p>
            <a:pPr marL="285750" indent="-285750">
              <a:buFont typeface="Arial" panose="020B0604020202020204" pitchFamily="34" charset="0"/>
              <a:buChar char="•"/>
            </a:pPr>
            <a:r>
              <a:rPr lang="vi-VN" sz="1600"/>
              <a:t>Khác với </a:t>
            </a:r>
            <a:r>
              <a:rPr lang="vi-VN" sz="1600" b="1"/>
              <a:t>SJF</a:t>
            </a:r>
            <a:r>
              <a:rPr lang="vi-VN" sz="1600"/>
              <a:t>, thuật toán này ưu tiên theo </a:t>
            </a:r>
            <a:r>
              <a:rPr lang="vi-VN" sz="1600" b="1"/>
              <a:t>độ quan trọng</a:t>
            </a:r>
            <a:r>
              <a:rPr lang="vi-VN" sz="1600"/>
              <a:t>, không dựa vào Burst Time</a:t>
            </a:r>
            <a:endParaRPr lang="en-US" sz="1600"/>
          </a:p>
          <a:p>
            <a:pPr marL="285750" indent="-285750">
              <a:buFont typeface="Arial" panose="020B0604020202020204" pitchFamily="34" charset="0"/>
              <a:buChar char="•"/>
            </a:pPr>
            <a:r>
              <a:rPr lang="vi-VN" sz="1600"/>
              <a:t>Phù hợp để xử lý các tác vụ quan trọng trước</a:t>
            </a:r>
            <a:endParaRPr lang="en-US" sz="1600" dirty="0"/>
          </a:p>
        </p:txBody>
      </p:sp>
      <p:sp>
        <p:nvSpPr>
          <p:cNvPr id="7" name="TextBox 6">
            <a:extLst>
              <a:ext uri="{FF2B5EF4-FFF2-40B4-BE49-F238E27FC236}">
                <a16:creationId xmlns:a16="http://schemas.microsoft.com/office/drawing/2014/main" id="{F70E57E4-A567-CF08-84F7-F9732F17D2E8}"/>
              </a:ext>
            </a:extLst>
          </p:cNvPr>
          <p:cNvSpPr txBox="1"/>
          <p:nvPr/>
        </p:nvSpPr>
        <p:spPr>
          <a:xfrm>
            <a:off x="-1" y="3121430"/>
            <a:ext cx="9319491" cy="1384995"/>
          </a:xfrm>
          <a:prstGeom prst="rect">
            <a:avLst/>
          </a:prstGeom>
          <a:noFill/>
        </p:spPr>
        <p:txBody>
          <a:bodyPr wrap="square" rtlCol="0">
            <a:spAutoFit/>
          </a:bodyPr>
          <a:lstStyle/>
          <a:p>
            <a:r>
              <a:rPr lang="en-US" sz="2000" b="1" dirty="0" err="1"/>
              <a:t>Khái</a:t>
            </a:r>
            <a:r>
              <a:rPr lang="en-US" sz="2000" b="1" dirty="0"/>
              <a:t> </a:t>
            </a:r>
            <a:r>
              <a:rPr lang="en-US" sz="2000" b="1" dirty="0" err="1"/>
              <a:t>Niệm</a:t>
            </a:r>
            <a:r>
              <a:rPr lang="en-US" sz="2000" b="1" dirty="0"/>
              <a:t> </a:t>
            </a:r>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sz="1600" dirty="0"/>
              <a:t>Nếu nhiều tiến trình cùng mức ưu tiên</a:t>
            </a:r>
            <a:br>
              <a:rPr lang="vi-VN" sz="1600" dirty="0"/>
            </a:br>
            <a:r>
              <a:rPr lang="vi-VN" sz="1600" dirty="0"/>
              <a:t>→ xử lý theo </a:t>
            </a:r>
            <a:r>
              <a:rPr lang="vi-VN" sz="1600" b="1" dirty="0"/>
              <a:t>FCFS</a:t>
            </a:r>
            <a:endParaRPr lang="en-US" sz="1600" b="1" dirty="0"/>
          </a:p>
          <a:p>
            <a:pPr marL="285750" indent="-285750">
              <a:buFont typeface="Arial" panose="020B0604020202020204" pitchFamily="34" charset="0"/>
              <a:buChar char="•"/>
            </a:pPr>
            <a:r>
              <a:rPr lang="vi-VN" sz="1600" dirty="0"/>
              <a:t>Priority nhỏ hơn → mức ưu tiên cao hơn</a:t>
            </a:r>
            <a:endParaRPr lang="en-US" sz="1600" dirty="0"/>
          </a:p>
          <a:p>
            <a:pPr marL="285750" indent="-285750">
              <a:buFont typeface="Arial" panose="020B0604020202020204" pitchFamily="34" charset="0"/>
              <a:buChar char="•"/>
            </a:pPr>
            <a:r>
              <a:rPr lang="vi-VN" sz="1600" dirty="0"/>
              <a:t>Mỗi tiến trình được gán một giá trị </a:t>
            </a:r>
            <a:r>
              <a:rPr lang="vi-VN" sz="1600" b="1" dirty="0"/>
              <a:t>Priority</a:t>
            </a:r>
            <a:endParaRPr lang="en-US" sz="1600" dirty="0"/>
          </a:p>
        </p:txBody>
      </p:sp>
      <p:sp>
        <p:nvSpPr>
          <p:cNvPr id="9" name="TextBox 8">
            <a:extLst>
              <a:ext uri="{FF2B5EF4-FFF2-40B4-BE49-F238E27FC236}">
                <a16:creationId xmlns:a16="http://schemas.microsoft.com/office/drawing/2014/main" id="{479E76FC-BB24-2C02-AE59-544CEDF27359}"/>
              </a:ext>
            </a:extLst>
          </p:cNvPr>
          <p:cNvSpPr txBox="1"/>
          <p:nvPr/>
        </p:nvSpPr>
        <p:spPr>
          <a:xfrm>
            <a:off x="0" y="4506424"/>
            <a:ext cx="9319491" cy="892552"/>
          </a:xfrm>
          <a:prstGeom prst="rect">
            <a:avLst/>
          </a:prstGeom>
          <a:noFill/>
        </p:spPr>
        <p:txBody>
          <a:bodyPr wrap="square" rtlCol="0">
            <a:spAutoFit/>
          </a:bodyPr>
          <a:lstStyle/>
          <a:p>
            <a:r>
              <a:rPr lang="en-US" sz="2000" dirty="0"/>
              <a:t>PHÂN LOẠI</a:t>
            </a:r>
          </a:p>
          <a:p>
            <a:pPr marL="342900" indent="-342900">
              <a:buFont typeface="Arial" panose="020B0604020202020204" pitchFamily="34" charset="0"/>
              <a:buChar char="•"/>
            </a:pPr>
            <a:r>
              <a:rPr lang="en-US" sz="1600" b="1" dirty="0"/>
              <a:t>Non-Preemptive:</a:t>
            </a:r>
            <a:r>
              <a:rPr lang="en-US" sz="1600" dirty="0"/>
              <a:t> </a:t>
            </a:r>
            <a:r>
              <a:rPr lang="en-US" sz="1600" dirty="0" err="1"/>
              <a:t>chạy</a:t>
            </a:r>
            <a:r>
              <a:rPr lang="en-US" sz="1600" dirty="0"/>
              <a:t> </a:t>
            </a:r>
            <a:r>
              <a:rPr lang="en-US" sz="1600" dirty="0" err="1"/>
              <a:t>đến</a:t>
            </a:r>
            <a:r>
              <a:rPr lang="en-US" sz="1600" dirty="0"/>
              <a:t> </a:t>
            </a:r>
            <a:r>
              <a:rPr lang="en-US" sz="1600" dirty="0" err="1"/>
              <a:t>khi</a:t>
            </a:r>
            <a:r>
              <a:rPr lang="en-US" sz="1600" dirty="0"/>
              <a:t> </a:t>
            </a:r>
            <a:r>
              <a:rPr lang="en-US" sz="1600" dirty="0" err="1"/>
              <a:t>hoàn</a:t>
            </a:r>
            <a:r>
              <a:rPr lang="en-US" sz="1600" dirty="0"/>
              <a:t> </a:t>
            </a:r>
            <a:r>
              <a:rPr lang="en-US" sz="1600" dirty="0" err="1"/>
              <a:t>thành</a:t>
            </a:r>
            <a:endParaRPr lang="en-US" sz="1600" dirty="0"/>
          </a:p>
          <a:p>
            <a:pPr marL="342900" indent="-342900">
              <a:buFont typeface="Arial" panose="020B0604020202020204" pitchFamily="34" charset="0"/>
              <a:buChar char="•"/>
            </a:pPr>
            <a:r>
              <a:rPr lang="vi-VN" sz="1600" b="1" dirty="0"/>
              <a:t>Preemptive:</a:t>
            </a:r>
            <a:r>
              <a:rPr lang="vi-VN" sz="1600" dirty="0"/>
              <a:t> có thể bị ngắt bởi tiến trình ưu tiên cao hơn</a:t>
            </a:r>
            <a:endParaRPr lang="en-US" sz="1600" dirty="0"/>
          </a:p>
        </p:txBody>
      </p:sp>
    </p:spTree>
    <p:extLst>
      <p:ext uri="{BB962C8B-B14F-4D97-AF65-F5344CB8AC3E}">
        <p14:creationId xmlns:p14="http://schemas.microsoft.com/office/powerpoint/2010/main" val="3948545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18EE278C-011C-4A37-D056-605054F0AEE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A8C8170-307C-1C3B-064F-085272B9CF68}"/>
              </a:ext>
            </a:extLst>
          </p:cNvPr>
          <p:cNvSpPr/>
          <p:nvPr/>
        </p:nvSpPr>
        <p:spPr>
          <a:xfrm>
            <a:off x="0" y="960582"/>
            <a:ext cx="12192000" cy="7758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01644074-2AD0-98DB-44AD-3E7B74C403B0}"/>
              </a:ext>
            </a:extLst>
          </p:cNvPr>
          <p:cNvSpPr txBox="1"/>
          <p:nvPr/>
        </p:nvSpPr>
        <p:spPr>
          <a:xfrm>
            <a:off x="-166254" y="1056121"/>
            <a:ext cx="12358254" cy="584775"/>
          </a:xfrm>
          <a:prstGeom prst="rect">
            <a:avLst/>
          </a:prstGeom>
          <a:noFill/>
        </p:spPr>
        <p:txBody>
          <a:bodyPr wrap="square" rtlCol="0">
            <a:spAutoFit/>
          </a:bodyPr>
          <a:lstStyle/>
          <a:p>
            <a:pPr algn="ctr"/>
            <a:r>
              <a:rPr lang="en-US" sz="3200" dirty="0">
                <a:solidFill>
                  <a:schemeClr val="bg1"/>
                </a:solidFill>
              </a:rPr>
              <a:t>NGUYÊN LÝ HOẠT ĐỘNG CỦA PRIORITY</a:t>
            </a:r>
          </a:p>
        </p:txBody>
      </p:sp>
      <p:sp>
        <p:nvSpPr>
          <p:cNvPr id="6" name="TextBox 5">
            <a:extLst>
              <a:ext uri="{FF2B5EF4-FFF2-40B4-BE49-F238E27FC236}">
                <a16:creationId xmlns:a16="http://schemas.microsoft.com/office/drawing/2014/main" id="{D3A123B4-B16B-46B3-1B1F-39E767E1FCCF}"/>
              </a:ext>
            </a:extLst>
          </p:cNvPr>
          <p:cNvSpPr txBox="1"/>
          <p:nvPr/>
        </p:nvSpPr>
        <p:spPr>
          <a:xfrm>
            <a:off x="182418" y="1831975"/>
            <a:ext cx="6183744" cy="3139321"/>
          </a:xfrm>
          <a:prstGeom prst="rect">
            <a:avLst/>
          </a:prstGeom>
          <a:noFill/>
        </p:spPr>
        <p:txBody>
          <a:bodyPr wrap="square">
            <a:spAutoFit/>
          </a:bodyPr>
          <a:lstStyle/>
          <a:p>
            <a:r>
              <a:rPr lang="en-US" dirty="0"/>
              <a:t>QUY TRÌNH XỬ LÝ:</a:t>
            </a:r>
          </a:p>
          <a:p>
            <a:pPr marL="342900" indent="-342900">
              <a:buFont typeface="+mj-lt"/>
              <a:buAutoNum type="arabicPeriod"/>
            </a:pPr>
            <a:r>
              <a:rPr lang="en-US" dirty="0" err="1"/>
              <a:t>Xét</a:t>
            </a:r>
            <a:r>
              <a:rPr lang="en-US" dirty="0"/>
              <a:t> </a:t>
            </a:r>
            <a:r>
              <a:rPr lang="en-US" dirty="0" err="1"/>
              <a:t>các</a:t>
            </a:r>
            <a:r>
              <a:rPr lang="en-US" dirty="0"/>
              <a:t> </a:t>
            </a:r>
            <a:r>
              <a:rPr lang="en-US" dirty="0" err="1"/>
              <a:t>tiến</a:t>
            </a:r>
            <a:r>
              <a:rPr lang="en-US" dirty="0"/>
              <a:t> </a:t>
            </a:r>
            <a:r>
              <a:rPr lang="en-US" dirty="0" err="1"/>
              <a:t>trình</a:t>
            </a:r>
            <a:r>
              <a:rPr lang="en-US" dirty="0"/>
              <a:t> </a:t>
            </a:r>
            <a:r>
              <a:rPr lang="en-US" dirty="0" err="1"/>
              <a:t>đã</a:t>
            </a:r>
            <a:r>
              <a:rPr lang="en-US" dirty="0"/>
              <a:t> </a:t>
            </a:r>
            <a:r>
              <a:rPr lang="en-US" dirty="0" err="1"/>
              <a:t>đến</a:t>
            </a:r>
            <a:endParaRPr lang="en-US" dirty="0"/>
          </a:p>
          <a:p>
            <a:r>
              <a:rPr lang="en-US" dirty="0"/>
              <a:t>      AT ≤ Current Time</a:t>
            </a:r>
          </a:p>
          <a:p>
            <a:r>
              <a:rPr lang="en-US" dirty="0"/>
              <a:t>2. </a:t>
            </a:r>
            <a:r>
              <a:rPr lang="en-US" dirty="0" err="1"/>
              <a:t>Chọn</a:t>
            </a:r>
            <a:r>
              <a:rPr lang="en-US" dirty="0"/>
              <a:t> </a:t>
            </a:r>
            <a:r>
              <a:rPr lang="en-US" dirty="0" err="1"/>
              <a:t>tiến</a:t>
            </a:r>
            <a:r>
              <a:rPr lang="en-US" dirty="0"/>
              <a:t> </a:t>
            </a:r>
            <a:r>
              <a:rPr lang="en-US" dirty="0" err="1"/>
              <a:t>trình</a:t>
            </a:r>
            <a:r>
              <a:rPr lang="en-US" dirty="0"/>
              <a:t> </a:t>
            </a:r>
            <a:r>
              <a:rPr lang="en-US" dirty="0" err="1"/>
              <a:t>có</a:t>
            </a:r>
            <a:r>
              <a:rPr lang="en-US" dirty="0"/>
              <a:t> </a:t>
            </a:r>
            <a:r>
              <a:rPr lang="en-US" b="1" dirty="0"/>
              <a:t>Priority </a:t>
            </a:r>
            <a:r>
              <a:rPr lang="en-US" b="1" dirty="0" err="1"/>
              <a:t>cao</a:t>
            </a:r>
            <a:r>
              <a:rPr lang="en-US" b="1" dirty="0"/>
              <a:t> </a:t>
            </a:r>
            <a:r>
              <a:rPr lang="en-US" b="1" dirty="0" err="1"/>
              <a:t>nhất</a:t>
            </a:r>
            <a:endParaRPr lang="en-US" b="1" dirty="0"/>
          </a:p>
          <a:p>
            <a:r>
              <a:rPr lang="en-US" dirty="0"/>
              <a:t>3. </a:t>
            </a:r>
            <a:r>
              <a:rPr lang="en-US" dirty="0" err="1"/>
              <a:t>Nếu</a:t>
            </a:r>
            <a:r>
              <a:rPr lang="en-US" dirty="0"/>
              <a:t> </a:t>
            </a:r>
            <a:r>
              <a:rPr lang="en-US" dirty="0" err="1"/>
              <a:t>trùng</a:t>
            </a:r>
            <a:r>
              <a:rPr lang="en-US" dirty="0"/>
              <a:t> Priority</a:t>
            </a:r>
            <a:br>
              <a:rPr lang="en-US" dirty="0"/>
            </a:br>
            <a:r>
              <a:rPr lang="en-US" dirty="0"/>
              <a:t>→ </a:t>
            </a:r>
            <a:r>
              <a:rPr lang="en-US" dirty="0" err="1"/>
              <a:t>áp</a:t>
            </a:r>
            <a:r>
              <a:rPr lang="en-US" dirty="0"/>
              <a:t> </a:t>
            </a:r>
            <a:r>
              <a:rPr lang="en-US" dirty="0" err="1"/>
              <a:t>dụng</a:t>
            </a:r>
            <a:r>
              <a:rPr lang="en-US" dirty="0"/>
              <a:t> FCFS</a:t>
            </a:r>
          </a:p>
          <a:p>
            <a:r>
              <a:rPr lang="en-US" dirty="0"/>
              <a:t>4. CPU </a:t>
            </a:r>
            <a:r>
              <a:rPr lang="en-US" dirty="0" err="1"/>
              <a:t>cấp</a:t>
            </a:r>
            <a:r>
              <a:rPr lang="en-US" dirty="0"/>
              <a:t> </a:t>
            </a:r>
            <a:r>
              <a:rPr lang="en-US" dirty="0" err="1"/>
              <a:t>phát</a:t>
            </a:r>
            <a:r>
              <a:rPr lang="en-US" dirty="0"/>
              <a:t> </a:t>
            </a:r>
            <a:r>
              <a:rPr lang="en-US" dirty="0" err="1"/>
              <a:t>cho</a:t>
            </a:r>
            <a:r>
              <a:rPr lang="en-US" dirty="0"/>
              <a:t> </a:t>
            </a:r>
            <a:r>
              <a:rPr lang="en-US" dirty="0" err="1"/>
              <a:t>tiến</a:t>
            </a:r>
            <a:r>
              <a:rPr lang="en-US" dirty="0"/>
              <a:t> </a:t>
            </a:r>
            <a:r>
              <a:rPr lang="en-US" dirty="0" err="1"/>
              <a:t>trình</a:t>
            </a:r>
            <a:r>
              <a:rPr lang="en-US" dirty="0"/>
              <a:t> </a:t>
            </a:r>
            <a:r>
              <a:rPr lang="en-US" dirty="0" err="1"/>
              <a:t>chạy</a:t>
            </a:r>
            <a:r>
              <a:rPr lang="en-US" dirty="0"/>
              <a:t> </a:t>
            </a:r>
            <a:r>
              <a:rPr lang="en-US" dirty="0" err="1"/>
              <a:t>đến</a:t>
            </a:r>
            <a:r>
              <a:rPr lang="en-US" dirty="0"/>
              <a:t> </a:t>
            </a:r>
            <a:r>
              <a:rPr lang="en-US" dirty="0" err="1"/>
              <a:t>khi</a:t>
            </a:r>
            <a:r>
              <a:rPr lang="en-US" dirty="0"/>
              <a:t> </a:t>
            </a:r>
            <a:r>
              <a:rPr lang="en-US" dirty="0" err="1"/>
              <a:t>hoàn</a:t>
            </a:r>
            <a:r>
              <a:rPr lang="en-US" dirty="0"/>
              <a:t> </a:t>
            </a:r>
            <a:r>
              <a:rPr lang="en-US" dirty="0" err="1"/>
              <a:t>thành</a:t>
            </a:r>
            <a:br>
              <a:rPr lang="en-US" dirty="0"/>
            </a:br>
            <a:r>
              <a:rPr lang="en-US" i="1" dirty="0"/>
              <a:t>(Non-Preemptive)</a:t>
            </a:r>
          </a:p>
          <a:p>
            <a:r>
              <a:rPr lang="en-US" i="1" dirty="0"/>
              <a:t>5. </a:t>
            </a:r>
            <a:r>
              <a:rPr lang="vi-VN" dirty="0"/>
              <a:t>Nếu chưa có tiến trình nào</a:t>
            </a:r>
            <a:br>
              <a:rPr lang="vi-VN" dirty="0"/>
            </a:br>
            <a:r>
              <a:rPr lang="vi-VN" dirty="0"/>
              <a:t>→ CPU ở trạng thái </a:t>
            </a:r>
            <a:r>
              <a:rPr lang="vi-VN" b="1" dirty="0"/>
              <a:t>Idle</a:t>
            </a:r>
            <a:endParaRPr lang="en-US" b="1" dirty="0"/>
          </a:p>
          <a:p>
            <a:endParaRPr lang="en-US" dirty="0"/>
          </a:p>
        </p:txBody>
      </p:sp>
      <p:sp>
        <p:nvSpPr>
          <p:cNvPr id="9" name="TextBox 8">
            <a:extLst>
              <a:ext uri="{FF2B5EF4-FFF2-40B4-BE49-F238E27FC236}">
                <a16:creationId xmlns:a16="http://schemas.microsoft.com/office/drawing/2014/main" id="{78B27BA8-4E43-C417-BA06-664CF2F00836}"/>
              </a:ext>
            </a:extLst>
          </p:cNvPr>
          <p:cNvSpPr txBox="1"/>
          <p:nvPr/>
        </p:nvSpPr>
        <p:spPr>
          <a:xfrm>
            <a:off x="6366162" y="1831975"/>
            <a:ext cx="6183744" cy="2308324"/>
          </a:xfrm>
          <a:prstGeom prst="rect">
            <a:avLst/>
          </a:prstGeom>
          <a:noFill/>
        </p:spPr>
        <p:txBody>
          <a:bodyPr wrap="square">
            <a:spAutoFit/>
          </a:bodyPr>
          <a:lstStyle/>
          <a:p>
            <a:r>
              <a:rPr lang="vi-VN" dirty="0"/>
              <a:t>CÁC ĐẠI LƯỢNG</a:t>
            </a:r>
            <a:r>
              <a:rPr lang="en-US" dirty="0"/>
              <a:t>:</a:t>
            </a:r>
          </a:p>
          <a:p>
            <a:pPr marL="285750" indent="-285750">
              <a:buFont typeface="Arial" panose="020B0604020202020204" pitchFamily="34" charset="0"/>
              <a:buChar char="•"/>
            </a:pPr>
            <a:r>
              <a:rPr lang="en-US" b="1" dirty="0"/>
              <a:t>AT:</a:t>
            </a:r>
            <a:r>
              <a:rPr lang="en-US" dirty="0"/>
              <a:t> Arrival Time</a:t>
            </a:r>
          </a:p>
          <a:p>
            <a:pPr marL="285750" indent="-285750">
              <a:buFont typeface="Arial" panose="020B0604020202020204" pitchFamily="34" charset="0"/>
              <a:buChar char="•"/>
            </a:pPr>
            <a:r>
              <a:rPr lang="en-US" b="1" dirty="0"/>
              <a:t>BT:</a:t>
            </a:r>
            <a:r>
              <a:rPr lang="en-US" dirty="0"/>
              <a:t> Burst Time</a:t>
            </a:r>
          </a:p>
          <a:p>
            <a:pPr marL="285750" indent="-285750">
              <a:buFont typeface="Arial" panose="020B0604020202020204" pitchFamily="34" charset="0"/>
              <a:buChar char="•"/>
            </a:pPr>
            <a:r>
              <a:rPr lang="en-US" b="1" dirty="0"/>
              <a:t>PR:</a:t>
            </a:r>
            <a:r>
              <a:rPr lang="en-US" dirty="0"/>
              <a:t> Priority</a:t>
            </a:r>
          </a:p>
          <a:p>
            <a:pPr marL="285750" indent="-285750">
              <a:buFont typeface="Arial" panose="020B0604020202020204" pitchFamily="34" charset="0"/>
              <a:buChar char="•"/>
            </a:pPr>
            <a:r>
              <a:rPr lang="en-US" b="1" dirty="0"/>
              <a:t>WT:</a:t>
            </a:r>
            <a:r>
              <a:rPr lang="en-US" dirty="0"/>
              <a:t> Waiting Time</a:t>
            </a:r>
          </a:p>
          <a:p>
            <a:pPr marL="285750" indent="-285750">
              <a:buFont typeface="Arial" panose="020B0604020202020204" pitchFamily="34" charset="0"/>
              <a:buChar char="•"/>
            </a:pPr>
            <a:r>
              <a:rPr lang="en-US" b="1" dirty="0"/>
              <a:t>CT:</a:t>
            </a:r>
            <a:r>
              <a:rPr lang="en-US" dirty="0"/>
              <a:t> Completion Time</a:t>
            </a:r>
          </a:p>
          <a:p>
            <a:pPr marL="285750" indent="-285750">
              <a:buFont typeface="Arial" panose="020B0604020202020204" pitchFamily="34" charset="0"/>
              <a:buChar char="•"/>
            </a:pPr>
            <a:r>
              <a:rPr lang="en-US" b="1" dirty="0"/>
              <a:t>TAT:</a:t>
            </a:r>
            <a:r>
              <a:rPr lang="en-US" dirty="0"/>
              <a:t> Turnaround Time</a:t>
            </a:r>
          </a:p>
          <a:p>
            <a:endParaRPr lang="en-US" dirty="0"/>
          </a:p>
        </p:txBody>
      </p:sp>
    </p:spTree>
    <p:extLst>
      <p:ext uri="{BB962C8B-B14F-4D97-AF65-F5344CB8AC3E}">
        <p14:creationId xmlns:p14="http://schemas.microsoft.com/office/powerpoint/2010/main" val="1142484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BEAD6DF1-08CE-36D1-A0B4-3D3452EF7F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C714D0F-C448-9A7D-5DC2-0FA972CF5B7B}"/>
              </a:ext>
            </a:extLst>
          </p:cNvPr>
          <p:cNvSpPr/>
          <p:nvPr/>
        </p:nvSpPr>
        <p:spPr>
          <a:xfrm>
            <a:off x="0" y="960582"/>
            <a:ext cx="12192000" cy="7758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61BFE00-CF74-F507-3C55-97AA0410F20E}"/>
              </a:ext>
            </a:extLst>
          </p:cNvPr>
          <p:cNvSpPr txBox="1"/>
          <p:nvPr/>
        </p:nvSpPr>
        <p:spPr>
          <a:xfrm>
            <a:off x="-166254" y="1056121"/>
            <a:ext cx="12192000" cy="584775"/>
          </a:xfrm>
          <a:prstGeom prst="rect">
            <a:avLst/>
          </a:prstGeom>
          <a:noFill/>
        </p:spPr>
        <p:txBody>
          <a:bodyPr wrap="square" rtlCol="0">
            <a:spAutoFit/>
          </a:bodyPr>
          <a:lstStyle/>
          <a:p>
            <a:pPr algn="ctr"/>
            <a:r>
              <a:rPr lang="en-US" sz="3200" dirty="0">
                <a:solidFill>
                  <a:schemeClr val="bg1"/>
                </a:solidFill>
              </a:rPr>
              <a:t>SJF (SHORTEST JOB FIRST)</a:t>
            </a:r>
          </a:p>
        </p:txBody>
      </p:sp>
      <p:sp>
        <p:nvSpPr>
          <p:cNvPr id="4" name="TextBox 3">
            <a:extLst>
              <a:ext uri="{FF2B5EF4-FFF2-40B4-BE49-F238E27FC236}">
                <a16:creationId xmlns:a16="http://schemas.microsoft.com/office/drawing/2014/main" id="{E698B814-71A2-3541-3F32-13E11B02DEC6}"/>
              </a:ext>
            </a:extLst>
          </p:cNvPr>
          <p:cNvSpPr txBox="1"/>
          <p:nvPr/>
        </p:nvSpPr>
        <p:spPr>
          <a:xfrm>
            <a:off x="295564" y="1736435"/>
            <a:ext cx="8353249" cy="523220"/>
          </a:xfrm>
          <a:prstGeom prst="rect">
            <a:avLst/>
          </a:prstGeom>
          <a:noFill/>
        </p:spPr>
        <p:txBody>
          <a:bodyPr wrap="none" rtlCol="0">
            <a:spAutoFit/>
          </a:bodyPr>
          <a:lstStyle/>
          <a:p>
            <a:r>
              <a:rPr lang="vi-VN" sz="1400" b="1" dirty="0"/>
              <a:t>Nguyên lý hoạt động:</a:t>
            </a:r>
            <a:br>
              <a:rPr lang="vi-VN" sz="1400" dirty="0"/>
            </a:br>
            <a:r>
              <a:rPr lang="vi-VN" sz="1400" dirty="0"/>
              <a:t>Tiến trình có </a:t>
            </a:r>
            <a:r>
              <a:rPr lang="vi-VN" sz="1400" b="1" dirty="0"/>
              <a:t>thời gian xử lý ngắn nhất (Burst Time nhỏ nhất)</a:t>
            </a:r>
            <a:r>
              <a:rPr lang="vi-VN" sz="1400" dirty="0"/>
              <a:t> sẽ được CPU ưu tiên thực hiện trước.</a:t>
            </a:r>
            <a:endParaRPr lang="en-US" sz="1400" dirty="0"/>
          </a:p>
        </p:txBody>
      </p:sp>
      <p:sp>
        <p:nvSpPr>
          <p:cNvPr id="5" name="TextBox 4">
            <a:extLst>
              <a:ext uri="{FF2B5EF4-FFF2-40B4-BE49-F238E27FC236}">
                <a16:creationId xmlns:a16="http://schemas.microsoft.com/office/drawing/2014/main" id="{9E6DE53E-6F0F-C7BC-E9D2-4134ED26DDC5}"/>
              </a:ext>
            </a:extLst>
          </p:cNvPr>
          <p:cNvSpPr txBox="1"/>
          <p:nvPr/>
        </p:nvSpPr>
        <p:spPr>
          <a:xfrm>
            <a:off x="295564" y="2259655"/>
            <a:ext cx="9362111" cy="738664"/>
          </a:xfrm>
          <a:prstGeom prst="rect">
            <a:avLst/>
          </a:prstGeom>
          <a:noFill/>
        </p:spPr>
        <p:txBody>
          <a:bodyPr wrap="square" rtlCol="0">
            <a:spAutoFit/>
          </a:bodyPr>
          <a:lstStyle/>
          <a:p>
            <a:r>
              <a:rPr lang="vi-VN" sz="1400" b="1" dirty="0"/>
              <a:t>Tính chất:</a:t>
            </a:r>
            <a:br>
              <a:rPr lang="vi-VN" sz="1400" dirty="0"/>
            </a:br>
            <a:r>
              <a:rPr lang="vi-VN" sz="1400" dirty="0"/>
              <a:t>Hoạt động theo cơ chế </a:t>
            </a:r>
            <a:r>
              <a:rPr lang="vi-VN" sz="1400" b="1" dirty="0"/>
              <a:t>không ngắt (Non-Preemptive)</a:t>
            </a:r>
            <a:r>
              <a:rPr lang="vi-VN" sz="1400" dirty="0"/>
              <a:t>, nghĩa là sau khi một tiến trình được cấp CPU thì sẽ chạy liên tục cho đến khi hoàn thành toàn bộ Burst Time.</a:t>
            </a:r>
            <a:endParaRPr lang="en-US" sz="1400" dirty="0"/>
          </a:p>
        </p:txBody>
      </p:sp>
      <p:sp>
        <p:nvSpPr>
          <p:cNvPr id="6" name="TextBox 5">
            <a:extLst>
              <a:ext uri="{FF2B5EF4-FFF2-40B4-BE49-F238E27FC236}">
                <a16:creationId xmlns:a16="http://schemas.microsoft.com/office/drawing/2014/main" id="{7588630C-82A7-3B3F-2E8A-400B0E1549BF}"/>
              </a:ext>
            </a:extLst>
          </p:cNvPr>
          <p:cNvSpPr txBox="1"/>
          <p:nvPr/>
        </p:nvSpPr>
        <p:spPr>
          <a:xfrm>
            <a:off x="295564" y="2998319"/>
            <a:ext cx="4966424" cy="1169551"/>
          </a:xfrm>
          <a:prstGeom prst="rect">
            <a:avLst/>
          </a:prstGeom>
          <a:noFill/>
        </p:spPr>
        <p:txBody>
          <a:bodyPr wrap="none" rtlCol="0">
            <a:spAutoFit/>
          </a:bodyPr>
          <a:lstStyle/>
          <a:p>
            <a:r>
              <a:rPr lang="vi-VN" sz="1400" b="1" dirty="0"/>
              <a:t>Đặc trưng:</a:t>
            </a:r>
            <a:br>
              <a:rPr lang="vi-VN" sz="1400" dirty="0"/>
            </a:br>
            <a:r>
              <a:rPr lang="vi-VN" sz="1400" dirty="0"/>
              <a:t>• Ưu tiên tiến trình có Burst Time nhỏ nhất</a:t>
            </a:r>
            <a:br>
              <a:rPr lang="vi-VN" sz="1400" dirty="0"/>
            </a:br>
            <a:r>
              <a:rPr lang="vi-VN" sz="1400" dirty="0"/>
              <a:t>• Giảm thời gian chờ trung bình của hệ thống</a:t>
            </a:r>
            <a:br>
              <a:rPr lang="vi-VN" sz="1400" dirty="0"/>
            </a:br>
            <a:r>
              <a:rPr lang="vi-VN" sz="1400" dirty="0"/>
              <a:t>• Có thể xảy ra hiện tượng “đói” (starvation) với tiến trình dài</a:t>
            </a:r>
            <a:br>
              <a:rPr lang="vi-VN" sz="1400" dirty="0"/>
            </a:br>
            <a:r>
              <a:rPr lang="vi-VN" sz="1400" dirty="0"/>
              <a:t>• Yêu cầu biết trước thời gian thực thi của tiến trình</a:t>
            </a:r>
            <a:endParaRPr lang="en-US" sz="1400" dirty="0"/>
          </a:p>
        </p:txBody>
      </p:sp>
      <p:sp>
        <p:nvSpPr>
          <p:cNvPr id="10" name="TextBox 9">
            <a:extLst>
              <a:ext uri="{FF2B5EF4-FFF2-40B4-BE49-F238E27FC236}">
                <a16:creationId xmlns:a16="http://schemas.microsoft.com/office/drawing/2014/main" id="{2A8C34F9-4E1A-3421-7A17-3B247129C532}"/>
              </a:ext>
            </a:extLst>
          </p:cNvPr>
          <p:cNvSpPr txBox="1"/>
          <p:nvPr/>
        </p:nvSpPr>
        <p:spPr>
          <a:xfrm>
            <a:off x="5929746" y="3336873"/>
            <a:ext cx="5226559" cy="830997"/>
          </a:xfrm>
          <a:prstGeom prst="rect">
            <a:avLst/>
          </a:prstGeom>
          <a:noFill/>
        </p:spPr>
        <p:txBody>
          <a:bodyPr wrap="none" rtlCol="0">
            <a:spAutoFit/>
          </a:bodyPr>
          <a:lstStyle/>
          <a:p>
            <a:r>
              <a:rPr lang="en-US" sz="1600" b="1" dirty="0" err="1"/>
              <a:t>Ví</a:t>
            </a:r>
            <a:r>
              <a:rPr lang="en-US" sz="1600" b="1" dirty="0"/>
              <a:t> </a:t>
            </a:r>
            <a:r>
              <a:rPr lang="en-US" sz="1600" b="1" dirty="0" err="1"/>
              <a:t>dụ</a:t>
            </a:r>
            <a:r>
              <a:rPr lang="en-US" sz="1600" b="1" dirty="0"/>
              <a:t>:</a:t>
            </a:r>
            <a:br>
              <a:rPr lang="en-US" sz="1600" dirty="0"/>
            </a:br>
            <a:r>
              <a:rPr lang="en-US" sz="1600" dirty="0"/>
              <a:t>Input: P1(b=6), P2(b=8), P3(b=7), P4(b=3) — </a:t>
            </a:r>
            <a:r>
              <a:rPr lang="en-US" sz="1600" dirty="0" err="1"/>
              <a:t>tất</a:t>
            </a:r>
            <a:r>
              <a:rPr lang="en-US" sz="1600" dirty="0"/>
              <a:t> </a:t>
            </a:r>
            <a:r>
              <a:rPr lang="en-US" sz="1600" dirty="0" err="1"/>
              <a:t>cả</a:t>
            </a:r>
            <a:r>
              <a:rPr lang="en-US" sz="1600" dirty="0"/>
              <a:t> arrival = 0</a:t>
            </a:r>
            <a:br>
              <a:rPr lang="en-US" sz="1600" dirty="0"/>
            </a:br>
            <a:r>
              <a:rPr lang="en-US" sz="1600" dirty="0" err="1"/>
              <a:t>Thứ</a:t>
            </a:r>
            <a:r>
              <a:rPr lang="en-US" sz="1600" dirty="0"/>
              <a:t> </a:t>
            </a:r>
            <a:r>
              <a:rPr lang="en-US" sz="1600" dirty="0" err="1"/>
              <a:t>tự</a:t>
            </a:r>
            <a:r>
              <a:rPr lang="en-US" sz="1600" dirty="0"/>
              <a:t>: </a:t>
            </a:r>
            <a:r>
              <a:rPr lang="en-US" sz="1600" b="1" dirty="0"/>
              <a:t>P4 → P1 → P3 → P2</a:t>
            </a:r>
            <a:endParaRPr lang="en-US" sz="1600" dirty="0"/>
          </a:p>
        </p:txBody>
      </p:sp>
      <p:graphicFrame>
        <p:nvGraphicFramePr>
          <p:cNvPr id="26" name="Table 25">
            <a:extLst>
              <a:ext uri="{FF2B5EF4-FFF2-40B4-BE49-F238E27FC236}">
                <a16:creationId xmlns:a16="http://schemas.microsoft.com/office/drawing/2014/main" id="{D7DDCA88-9D69-3F3F-3E8E-656BE5B75FAE}"/>
              </a:ext>
            </a:extLst>
          </p:cNvPr>
          <p:cNvGraphicFramePr>
            <a:graphicFrameLocks noGrp="1"/>
          </p:cNvGraphicFramePr>
          <p:nvPr>
            <p:extLst>
              <p:ext uri="{D42A27DB-BD31-4B8C-83A1-F6EECF244321}">
                <p14:modId xmlns:p14="http://schemas.microsoft.com/office/powerpoint/2010/main" val="1949902177"/>
              </p:ext>
            </p:extLst>
          </p:nvPr>
        </p:nvGraphicFramePr>
        <p:xfrm>
          <a:off x="539105" y="4167870"/>
          <a:ext cx="10515600" cy="365760"/>
        </p:xfrm>
        <a:graphic>
          <a:graphicData uri="http://schemas.openxmlformats.org/drawingml/2006/table">
            <a:tbl>
              <a:tblPr/>
              <a:tblGrid>
                <a:gridCol w="1314450">
                  <a:extLst>
                    <a:ext uri="{9D8B030D-6E8A-4147-A177-3AD203B41FA5}">
                      <a16:colId xmlns:a16="http://schemas.microsoft.com/office/drawing/2014/main" val="1165171856"/>
                    </a:ext>
                  </a:extLst>
                </a:gridCol>
                <a:gridCol w="1314450">
                  <a:extLst>
                    <a:ext uri="{9D8B030D-6E8A-4147-A177-3AD203B41FA5}">
                      <a16:colId xmlns:a16="http://schemas.microsoft.com/office/drawing/2014/main" val="2473415082"/>
                    </a:ext>
                  </a:extLst>
                </a:gridCol>
                <a:gridCol w="1314450">
                  <a:extLst>
                    <a:ext uri="{9D8B030D-6E8A-4147-A177-3AD203B41FA5}">
                      <a16:colId xmlns:a16="http://schemas.microsoft.com/office/drawing/2014/main" val="4102834417"/>
                    </a:ext>
                  </a:extLst>
                </a:gridCol>
                <a:gridCol w="1314450">
                  <a:extLst>
                    <a:ext uri="{9D8B030D-6E8A-4147-A177-3AD203B41FA5}">
                      <a16:colId xmlns:a16="http://schemas.microsoft.com/office/drawing/2014/main" val="329286906"/>
                    </a:ext>
                  </a:extLst>
                </a:gridCol>
                <a:gridCol w="1314450">
                  <a:extLst>
                    <a:ext uri="{9D8B030D-6E8A-4147-A177-3AD203B41FA5}">
                      <a16:colId xmlns:a16="http://schemas.microsoft.com/office/drawing/2014/main" val="2757162895"/>
                    </a:ext>
                  </a:extLst>
                </a:gridCol>
                <a:gridCol w="1314450">
                  <a:extLst>
                    <a:ext uri="{9D8B030D-6E8A-4147-A177-3AD203B41FA5}">
                      <a16:colId xmlns:a16="http://schemas.microsoft.com/office/drawing/2014/main" val="3008034452"/>
                    </a:ext>
                  </a:extLst>
                </a:gridCol>
                <a:gridCol w="1314450">
                  <a:extLst>
                    <a:ext uri="{9D8B030D-6E8A-4147-A177-3AD203B41FA5}">
                      <a16:colId xmlns:a16="http://schemas.microsoft.com/office/drawing/2014/main" val="2348898529"/>
                    </a:ext>
                  </a:extLst>
                </a:gridCol>
                <a:gridCol w="1314450">
                  <a:extLst>
                    <a:ext uri="{9D8B030D-6E8A-4147-A177-3AD203B41FA5}">
                      <a16:colId xmlns:a16="http://schemas.microsoft.com/office/drawing/2014/main" val="2631417857"/>
                    </a:ext>
                  </a:extLst>
                </a:gridCol>
              </a:tblGrid>
              <a:tr h="0">
                <a:tc>
                  <a:txBody>
                    <a:bodyPr/>
                    <a:lstStyle/>
                    <a:p>
                      <a:pPr>
                        <a:buNone/>
                      </a:pPr>
                      <a:r>
                        <a:rPr lang="en-US"/>
                        <a:t>PID</a:t>
                      </a:r>
                    </a:p>
                  </a:txBody>
                  <a:tcPr anchor="ctr">
                    <a:lnL>
                      <a:noFill/>
                    </a:lnL>
                    <a:lnR>
                      <a:noFill/>
                    </a:lnR>
                    <a:lnT>
                      <a:noFill/>
                    </a:lnT>
                    <a:lnB>
                      <a:noFill/>
                    </a:lnB>
                    <a:noFill/>
                  </a:tcPr>
                </a:tc>
                <a:tc>
                  <a:txBody>
                    <a:bodyPr/>
                    <a:lstStyle/>
                    <a:p>
                      <a:pPr>
                        <a:buNone/>
                      </a:pPr>
                      <a:r>
                        <a:rPr lang="en-US"/>
                        <a:t>Arrival</a:t>
                      </a:r>
                    </a:p>
                  </a:txBody>
                  <a:tcPr anchor="ctr">
                    <a:lnL>
                      <a:noFill/>
                    </a:lnL>
                    <a:lnR>
                      <a:noFill/>
                    </a:lnR>
                    <a:lnT>
                      <a:noFill/>
                    </a:lnT>
                    <a:lnB>
                      <a:noFill/>
                    </a:lnB>
                    <a:noFill/>
                  </a:tcPr>
                </a:tc>
                <a:tc>
                  <a:txBody>
                    <a:bodyPr/>
                    <a:lstStyle/>
                    <a:p>
                      <a:pPr>
                        <a:buNone/>
                      </a:pPr>
                      <a:r>
                        <a:rPr lang="en-US"/>
                        <a:t>Burst</a:t>
                      </a:r>
                    </a:p>
                  </a:txBody>
                  <a:tcPr anchor="ctr">
                    <a:lnL>
                      <a:noFill/>
                    </a:lnL>
                    <a:lnR>
                      <a:noFill/>
                    </a:lnR>
                    <a:lnT>
                      <a:noFill/>
                    </a:lnT>
                    <a:lnB>
                      <a:noFill/>
                    </a:lnB>
                    <a:noFill/>
                  </a:tcPr>
                </a:tc>
                <a:tc>
                  <a:txBody>
                    <a:bodyPr/>
                    <a:lstStyle/>
                    <a:p>
                      <a:pPr>
                        <a:buNone/>
                      </a:pPr>
                      <a:r>
                        <a:rPr lang="en-US" dirty="0"/>
                        <a:t>WT </a:t>
                      </a:r>
                      <a:r>
                        <a:rPr lang="en-US" dirty="0" err="1"/>
                        <a:t>sách</a:t>
                      </a:r>
                      <a:endParaRPr lang="en-US" dirty="0"/>
                    </a:p>
                  </a:txBody>
                  <a:tcPr anchor="ctr">
                    <a:lnL>
                      <a:noFill/>
                    </a:lnL>
                    <a:lnR>
                      <a:noFill/>
                    </a:lnR>
                    <a:lnT>
                      <a:noFill/>
                    </a:lnT>
                    <a:lnB>
                      <a:noFill/>
                    </a:lnB>
                    <a:noFill/>
                  </a:tcPr>
                </a:tc>
                <a:tc>
                  <a:txBody>
                    <a:bodyPr/>
                    <a:lstStyle/>
                    <a:p>
                      <a:pPr>
                        <a:buNone/>
                      </a:pPr>
                      <a:r>
                        <a:rPr lang="en-US"/>
                        <a:t>WT app</a:t>
                      </a:r>
                    </a:p>
                  </a:txBody>
                  <a:tcPr anchor="ctr">
                    <a:lnL>
                      <a:noFill/>
                    </a:lnL>
                    <a:lnR>
                      <a:noFill/>
                    </a:lnR>
                    <a:lnT>
                      <a:noFill/>
                    </a:lnT>
                    <a:lnB>
                      <a:noFill/>
                    </a:lnB>
                    <a:noFill/>
                  </a:tcPr>
                </a:tc>
                <a:tc>
                  <a:txBody>
                    <a:bodyPr/>
                    <a:lstStyle/>
                    <a:p>
                      <a:pPr>
                        <a:buNone/>
                      </a:pPr>
                      <a:r>
                        <a:rPr lang="en-US"/>
                        <a:t>TAT sách</a:t>
                      </a:r>
                    </a:p>
                  </a:txBody>
                  <a:tcPr anchor="ctr">
                    <a:lnL>
                      <a:noFill/>
                    </a:lnL>
                    <a:lnR>
                      <a:noFill/>
                    </a:lnR>
                    <a:lnT>
                      <a:noFill/>
                    </a:lnT>
                    <a:lnB>
                      <a:noFill/>
                    </a:lnB>
                    <a:noFill/>
                  </a:tcPr>
                </a:tc>
                <a:tc>
                  <a:txBody>
                    <a:bodyPr/>
                    <a:lstStyle/>
                    <a:p>
                      <a:pPr>
                        <a:buNone/>
                      </a:pPr>
                      <a:r>
                        <a:rPr lang="en-US"/>
                        <a:t>TAT app</a:t>
                      </a:r>
                    </a:p>
                  </a:txBody>
                  <a:tcPr anchor="ctr">
                    <a:lnL>
                      <a:noFill/>
                    </a:lnL>
                    <a:lnR>
                      <a:noFill/>
                    </a:lnR>
                    <a:lnT>
                      <a:noFill/>
                    </a:lnT>
                    <a:lnB>
                      <a:noFill/>
                    </a:lnB>
                    <a:noFill/>
                  </a:tcPr>
                </a:tc>
                <a:tc>
                  <a:txBody>
                    <a:bodyPr/>
                    <a:lstStyle/>
                    <a:p>
                      <a:pPr>
                        <a:buNone/>
                      </a:pPr>
                      <a:r>
                        <a:rPr lang="en-US" dirty="0" err="1"/>
                        <a:t>Kết</a:t>
                      </a:r>
                      <a:r>
                        <a:rPr lang="en-US" dirty="0"/>
                        <a:t> </a:t>
                      </a:r>
                      <a:r>
                        <a:rPr lang="en-US" dirty="0" err="1"/>
                        <a:t>quả</a:t>
                      </a:r>
                      <a:endParaRPr lang="en-US" dirty="0"/>
                    </a:p>
                  </a:txBody>
                  <a:tcPr anchor="ctr">
                    <a:lnL>
                      <a:noFill/>
                    </a:lnL>
                    <a:lnR>
                      <a:noFill/>
                    </a:lnR>
                    <a:lnT>
                      <a:noFill/>
                    </a:lnT>
                    <a:lnB>
                      <a:noFill/>
                    </a:lnB>
                    <a:noFill/>
                  </a:tcPr>
                </a:tc>
                <a:extLst>
                  <a:ext uri="{0D108BD9-81ED-4DB2-BD59-A6C34878D82A}">
                    <a16:rowId xmlns:a16="http://schemas.microsoft.com/office/drawing/2014/main" val="2405375958"/>
                  </a:ext>
                </a:extLst>
              </a:tr>
            </a:tbl>
          </a:graphicData>
        </a:graphic>
      </p:graphicFrame>
      <p:graphicFrame>
        <p:nvGraphicFramePr>
          <p:cNvPr id="27" name="Table 26">
            <a:extLst>
              <a:ext uri="{FF2B5EF4-FFF2-40B4-BE49-F238E27FC236}">
                <a16:creationId xmlns:a16="http://schemas.microsoft.com/office/drawing/2014/main" id="{FB704F74-0EDE-71A9-B70A-0FB6B9D66BC7}"/>
              </a:ext>
            </a:extLst>
          </p:cNvPr>
          <p:cNvGraphicFramePr>
            <a:graphicFrameLocks noGrp="1"/>
          </p:cNvGraphicFramePr>
          <p:nvPr>
            <p:extLst>
              <p:ext uri="{D42A27DB-BD31-4B8C-83A1-F6EECF244321}">
                <p14:modId xmlns:p14="http://schemas.microsoft.com/office/powerpoint/2010/main" val="1985453086"/>
              </p:ext>
            </p:extLst>
          </p:nvPr>
        </p:nvGraphicFramePr>
        <p:xfrm>
          <a:off x="539105" y="5440469"/>
          <a:ext cx="10515600" cy="365760"/>
        </p:xfrm>
        <a:graphic>
          <a:graphicData uri="http://schemas.openxmlformats.org/drawingml/2006/table">
            <a:tbl>
              <a:tblPr/>
              <a:tblGrid>
                <a:gridCol w="1314450">
                  <a:extLst>
                    <a:ext uri="{9D8B030D-6E8A-4147-A177-3AD203B41FA5}">
                      <a16:colId xmlns:a16="http://schemas.microsoft.com/office/drawing/2014/main" val="1747710792"/>
                    </a:ext>
                  </a:extLst>
                </a:gridCol>
                <a:gridCol w="1314450">
                  <a:extLst>
                    <a:ext uri="{9D8B030D-6E8A-4147-A177-3AD203B41FA5}">
                      <a16:colId xmlns:a16="http://schemas.microsoft.com/office/drawing/2014/main" val="1673647364"/>
                    </a:ext>
                  </a:extLst>
                </a:gridCol>
                <a:gridCol w="1314450">
                  <a:extLst>
                    <a:ext uri="{9D8B030D-6E8A-4147-A177-3AD203B41FA5}">
                      <a16:colId xmlns:a16="http://schemas.microsoft.com/office/drawing/2014/main" val="3161260696"/>
                    </a:ext>
                  </a:extLst>
                </a:gridCol>
                <a:gridCol w="1314450">
                  <a:extLst>
                    <a:ext uri="{9D8B030D-6E8A-4147-A177-3AD203B41FA5}">
                      <a16:colId xmlns:a16="http://schemas.microsoft.com/office/drawing/2014/main" val="771343595"/>
                    </a:ext>
                  </a:extLst>
                </a:gridCol>
                <a:gridCol w="1314450">
                  <a:extLst>
                    <a:ext uri="{9D8B030D-6E8A-4147-A177-3AD203B41FA5}">
                      <a16:colId xmlns:a16="http://schemas.microsoft.com/office/drawing/2014/main" val="2497789128"/>
                    </a:ext>
                  </a:extLst>
                </a:gridCol>
                <a:gridCol w="1314450">
                  <a:extLst>
                    <a:ext uri="{9D8B030D-6E8A-4147-A177-3AD203B41FA5}">
                      <a16:colId xmlns:a16="http://schemas.microsoft.com/office/drawing/2014/main" val="2409270124"/>
                    </a:ext>
                  </a:extLst>
                </a:gridCol>
                <a:gridCol w="1314450">
                  <a:extLst>
                    <a:ext uri="{9D8B030D-6E8A-4147-A177-3AD203B41FA5}">
                      <a16:colId xmlns:a16="http://schemas.microsoft.com/office/drawing/2014/main" val="1735813311"/>
                    </a:ext>
                  </a:extLst>
                </a:gridCol>
                <a:gridCol w="1314450">
                  <a:extLst>
                    <a:ext uri="{9D8B030D-6E8A-4147-A177-3AD203B41FA5}">
                      <a16:colId xmlns:a16="http://schemas.microsoft.com/office/drawing/2014/main" val="684243507"/>
                    </a:ext>
                  </a:extLst>
                </a:gridCol>
              </a:tblGrid>
              <a:tr h="0">
                <a:tc>
                  <a:txBody>
                    <a:bodyPr/>
                    <a:lstStyle/>
                    <a:p>
                      <a:pPr>
                        <a:buNone/>
                      </a:pPr>
                      <a:r>
                        <a:rPr lang="en-US"/>
                        <a:t>P4</a:t>
                      </a:r>
                    </a:p>
                  </a:txBody>
                  <a:tcPr anchor="ctr">
                    <a:lnL>
                      <a:noFill/>
                    </a:lnL>
                    <a:lnR>
                      <a:noFill/>
                    </a:lnR>
                    <a:lnT>
                      <a:noFill/>
                    </a:lnT>
                    <a:lnB>
                      <a:noFill/>
                    </a:lnB>
                    <a:noFill/>
                  </a:tcPr>
                </a:tc>
                <a:tc>
                  <a:txBody>
                    <a:bodyPr/>
                    <a:lstStyle/>
                    <a:p>
                      <a:pPr>
                        <a:buNone/>
                      </a:pPr>
                      <a:r>
                        <a:rPr lang="en-US"/>
                        <a:t>0</a:t>
                      </a:r>
                    </a:p>
                  </a:txBody>
                  <a:tcPr anchor="ctr">
                    <a:lnL>
                      <a:noFill/>
                    </a:lnL>
                    <a:lnR>
                      <a:noFill/>
                    </a:lnR>
                    <a:lnT>
                      <a:noFill/>
                    </a:lnT>
                    <a:lnB>
                      <a:noFill/>
                    </a:lnB>
                    <a:noFill/>
                  </a:tcPr>
                </a:tc>
                <a:tc>
                  <a:txBody>
                    <a:bodyPr/>
                    <a:lstStyle/>
                    <a:p>
                      <a:pPr>
                        <a:buNone/>
                      </a:pPr>
                      <a:r>
                        <a:rPr lang="en-US" dirty="0"/>
                        <a:t>3</a:t>
                      </a:r>
                    </a:p>
                  </a:txBody>
                  <a:tcPr anchor="ctr">
                    <a:lnL>
                      <a:noFill/>
                    </a:lnL>
                    <a:lnR>
                      <a:noFill/>
                    </a:lnR>
                    <a:lnT>
                      <a:noFill/>
                    </a:lnT>
                    <a:lnB>
                      <a:noFill/>
                    </a:lnB>
                    <a:noFill/>
                  </a:tcPr>
                </a:tc>
                <a:tc>
                  <a:txBody>
                    <a:bodyPr/>
                    <a:lstStyle/>
                    <a:p>
                      <a:pPr>
                        <a:buNone/>
                      </a:pPr>
                      <a:r>
                        <a:rPr lang="en-US"/>
                        <a:t>0</a:t>
                      </a:r>
                    </a:p>
                  </a:txBody>
                  <a:tcPr anchor="ctr">
                    <a:lnL>
                      <a:noFill/>
                    </a:lnL>
                    <a:lnR>
                      <a:noFill/>
                    </a:lnR>
                    <a:lnT>
                      <a:noFill/>
                    </a:lnT>
                    <a:lnB>
                      <a:noFill/>
                    </a:lnB>
                    <a:noFill/>
                  </a:tcPr>
                </a:tc>
                <a:tc>
                  <a:txBody>
                    <a:bodyPr/>
                    <a:lstStyle/>
                    <a:p>
                      <a:pPr>
                        <a:buNone/>
                      </a:pPr>
                      <a:r>
                        <a:rPr lang="en-US"/>
                        <a:t>0</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a:buNone/>
                      </a:pPr>
                      <a:r>
                        <a:rPr lang="en-US" dirty="0"/>
                        <a:t>PASS</a:t>
                      </a:r>
                    </a:p>
                  </a:txBody>
                  <a:tcPr anchor="ctr">
                    <a:lnL>
                      <a:noFill/>
                    </a:lnL>
                    <a:lnR>
                      <a:noFill/>
                    </a:lnR>
                    <a:lnT>
                      <a:noFill/>
                    </a:lnT>
                    <a:lnB>
                      <a:noFill/>
                    </a:lnB>
                    <a:noFill/>
                  </a:tcPr>
                </a:tc>
                <a:extLst>
                  <a:ext uri="{0D108BD9-81ED-4DB2-BD59-A6C34878D82A}">
                    <a16:rowId xmlns:a16="http://schemas.microsoft.com/office/drawing/2014/main" val="3398349336"/>
                  </a:ext>
                </a:extLst>
              </a:tr>
            </a:tbl>
          </a:graphicData>
        </a:graphic>
      </p:graphicFrame>
      <p:graphicFrame>
        <p:nvGraphicFramePr>
          <p:cNvPr id="28" name="Table 27">
            <a:extLst>
              <a:ext uri="{FF2B5EF4-FFF2-40B4-BE49-F238E27FC236}">
                <a16:creationId xmlns:a16="http://schemas.microsoft.com/office/drawing/2014/main" id="{23AD8DD1-AA77-633E-7997-E3C22B06E400}"/>
              </a:ext>
            </a:extLst>
          </p:cNvPr>
          <p:cNvGraphicFramePr>
            <a:graphicFrameLocks noGrp="1"/>
          </p:cNvGraphicFramePr>
          <p:nvPr>
            <p:extLst>
              <p:ext uri="{D42A27DB-BD31-4B8C-83A1-F6EECF244321}">
                <p14:modId xmlns:p14="http://schemas.microsoft.com/office/powerpoint/2010/main" val="3721204515"/>
              </p:ext>
            </p:extLst>
          </p:nvPr>
        </p:nvGraphicFramePr>
        <p:xfrm>
          <a:off x="539105" y="4489824"/>
          <a:ext cx="10515600" cy="365760"/>
        </p:xfrm>
        <a:graphic>
          <a:graphicData uri="http://schemas.openxmlformats.org/drawingml/2006/table">
            <a:tbl>
              <a:tblPr/>
              <a:tblGrid>
                <a:gridCol w="1314450">
                  <a:extLst>
                    <a:ext uri="{9D8B030D-6E8A-4147-A177-3AD203B41FA5}">
                      <a16:colId xmlns:a16="http://schemas.microsoft.com/office/drawing/2014/main" val="1923977457"/>
                    </a:ext>
                  </a:extLst>
                </a:gridCol>
                <a:gridCol w="1314450">
                  <a:extLst>
                    <a:ext uri="{9D8B030D-6E8A-4147-A177-3AD203B41FA5}">
                      <a16:colId xmlns:a16="http://schemas.microsoft.com/office/drawing/2014/main" val="1928446789"/>
                    </a:ext>
                  </a:extLst>
                </a:gridCol>
                <a:gridCol w="1314450">
                  <a:extLst>
                    <a:ext uri="{9D8B030D-6E8A-4147-A177-3AD203B41FA5}">
                      <a16:colId xmlns:a16="http://schemas.microsoft.com/office/drawing/2014/main" val="1934429784"/>
                    </a:ext>
                  </a:extLst>
                </a:gridCol>
                <a:gridCol w="1314450">
                  <a:extLst>
                    <a:ext uri="{9D8B030D-6E8A-4147-A177-3AD203B41FA5}">
                      <a16:colId xmlns:a16="http://schemas.microsoft.com/office/drawing/2014/main" val="296613096"/>
                    </a:ext>
                  </a:extLst>
                </a:gridCol>
                <a:gridCol w="1314450">
                  <a:extLst>
                    <a:ext uri="{9D8B030D-6E8A-4147-A177-3AD203B41FA5}">
                      <a16:colId xmlns:a16="http://schemas.microsoft.com/office/drawing/2014/main" val="3261824285"/>
                    </a:ext>
                  </a:extLst>
                </a:gridCol>
                <a:gridCol w="1314450">
                  <a:extLst>
                    <a:ext uri="{9D8B030D-6E8A-4147-A177-3AD203B41FA5}">
                      <a16:colId xmlns:a16="http://schemas.microsoft.com/office/drawing/2014/main" val="2647664666"/>
                    </a:ext>
                  </a:extLst>
                </a:gridCol>
                <a:gridCol w="1314450">
                  <a:extLst>
                    <a:ext uri="{9D8B030D-6E8A-4147-A177-3AD203B41FA5}">
                      <a16:colId xmlns:a16="http://schemas.microsoft.com/office/drawing/2014/main" val="49450236"/>
                    </a:ext>
                  </a:extLst>
                </a:gridCol>
                <a:gridCol w="1314450">
                  <a:extLst>
                    <a:ext uri="{9D8B030D-6E8A-4147-A177-3AD203B41FA5}">
                      <a16:colId xmlns:a16="http://schemas.microsoft.com/office/drawing/2014/main" val="821797829"/>
                    </a:ext>
                  </a:extLst>
                </a:gridCol>
              </a:tblGrid>
              <a:tr h="0">
                <a:tc>
                  <a:txBody>
                    <a:bodyPr/>
                    <a:lstStyle/>
                    <a:p>
                      <a:pPr>
                        <a:buNone/>
                      </a:pPr>
                      <a:r>
                        <a:rPr lang="en-US"/>
                        <a:t>P1</a:t>
                      </a:r>
                    </a:p>
                  </a:txBody>
                  <a:tcPr anchor="ctr">
                    <a:lnL>
                      <a:noFill/>
                    </a:lnL>
                    <a:lnR>
                      <a:noFill/>
                    </a:lnR>
                    <a:lnT>
                      <a:noFill/>
                    </a:lnT>
                    <a:lnB>
                      <a:noFill/>
                    </a:lnB>
                    <a:noFill/>
                  </a:tcPr>
                </a:tc>
                <a:tc>
                  <a:txBody>
                    <a:bodyPr/>
                    <a:lstStyle/>
                    <a:p>
                      <a:pPr>
                        <a:buNone/>
                      </a:pPr>
                      <a:r>
                        <a:rPr lang="en-US"/>
                        <a:t>0</a:t>
                      </a:r>
                    </a:p>
                  </a:txBody>
                  <a:tcPr anchor="ctr">
                    <a:lnL>
                      <a:noFill/>
                    </a:lnL>
                    <a:lnR>
                      <a:noFill/>
                    </a:lnR>
                    <a:lnT>
                      <a:noFill/>
                    </a:lnT>
                    <a:lnB>
                      <a:noFill/>
                    </a:lnB>
                    <a:noFill/>
                  </a:tcPr>
                </a:tc>
                <a:tc>
                  <a:txBody>
                    <a:bodyPr/>
                    <a:lstStyle/>
                    <a:p>
                      <a:pPr>
                        <a:buNone/>
                      </a:pPr>
                      <a:r>
                        <a:rPr lang="en-US" dirty="0"/>
                        <a:t>6</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a:buNone/>
                      </a:pPr>
                      <a:r>
                        <a:rPr lang="en-US" dirty="0"/>
                        <a:t>3</a:t>
                      </a:r>
                    </a:p>
                  </a:txBody>
                  <a:tcPr anchor="ctr">
                    <a:lnL>
                      <a:noFill/>
                    </a:lnL>
                    <a:lnR>
                      <a:noFill/>
                    </a:lnR>
                    <a:lnT>
                      <a:noFill/>
                    </a:lnT>
                    <a:lnB>
                      <a:noFill/>
                    </a:lnB>
                    <a:noFill/>
                  </a:tcPr>
                </a:tc>
                <a:tc>
                  <a:txBody>
                    <a:bodyPr/>
                    <a:lstStyle/>
                    <a:p>
                      <a:pPr>
                        <a:buNone/>
                      </a:pPr>
                      <a:r>
                        <a:rPr lang="en-US"/>
                        <a:t>9</a:t>
                      </a:r>
                    </a:p>
                  </a:txBody>
                  <a:tcPr anchor="ctr">
                    <a:lnL>
                      <a:noFill/>
                    </a:lnL>
                    <a:lnR>
                      <a:noFill/>
                    </a:lnR>
                    <a:lnT>
                      <a:noFill/>
                    </a:lnT>
                    <a:lnB>
                      <a:noFill/>
                    </a:lnB>
                    <a:noFill/>
                  </a:tcPr>
                </a:tc>
                <a:tc>
                  <a:txBody>
                    <a:bodyPr/>
                    <a:lstStyle/>
                    <a:p>
                      <a:pPr>
                        <a:buNone/>
                      </a:pPr>
                      <a:r>
                        <a:rPr lang="en-US"/>
                        <a:t>9</a:t>
                      </a:r>
                    </a:p>
                  </a:txBody>
                  <a:tcPr anchor="ctr">
                    <a:lnL>
                      <a:noFill/>
                    </a:lnL>
                    <a:lnR>
                      <a:noFill/>
                    </a:lnR>
                    <a:lnT>
                      <a:noFill/>
                    </a:lnT>
                    <a:lnB>
                      <a:noFill/>
                    </a:lnB>
                    <a:noFill/>
                  </a:tcPr>
                </a:tc>
                <a:tc>
                  <a:txBody>
                    <a:bodyPr/>
                    <a:lstStyle/>
                    <a:p>
                      <a:pPr>
                        <a:buNone/>
                      </a:pPr>
                      <a:r>
                        <a:rPr lang="en-US" dirty="0"/>
                        <a:t>PASS</a:t>
                      </a:r>
                    </a:p>
                  </a:txBody>
                  <a:tcPr anchor="ctr">
                    <a:lnL>
                      <a:noFill/>
                    </a:lnL>
                    <a:lnR>
                      <a:noFill/>
                    </a:lnR>
                    <a:lnT>
                      <a:noFill/>
                    </a:lnT>
                    <a:lnB>
                      <a:noFill/>
                    </a:lnB>
                    <a:noFill/>
                  </a:tcPr>
                </a:tc>
                <a:extLst>
                  <a:ext uri="{0D108BD9-81ED-4DB2-BD59-A6C34878D82A}">
                    <a16:rowId xmlns:a16="http://schemas.microsoft.com/office/drawing/2014/main" val="3098818323"/>
                  </a:ext>
                </a:extLst>
              </a:tr>
            </a:tbl>
          </a:graphicData>
        </a:graphic>
      </p:graphicFrame>
      <p:graphicFrame>
        <p:nvGraphicFramePr>
          <p:cNvPr id="29" name="Table 28">
            <a:extLst>
              <a:ext uri="{FF2B5EF4-FFF2-40B4-BE49-F238E27FC236}">
                <a16:creationId xmlns:a16="http://schemas.microsoft.com/office/drawing/2014/main" id="{048A4CE1-28D2-6712-3CB2-64E3720502FB}"/>
              </a:ext>
            </a:extLst>
          </p:cNvPr>
          <p:cNvGraphicFramePr>
            <a:graphicFrameLocks noGrp="1"/>
          </p:cNvGraphicFramePr>
          <p:nvPr>
            <p:extLst>
              <p:ext uri="{D42A27DB-BD31-4B8C-83A1-F6EECF244321}">
                <p14:modId xmlns:p14="http://schemas.microsoft.com/office/powerpoint/2010/main" val="3037678146"/>
              </p:ext>
            </p:extLst>
          </p:nvPr>
        </p:nvGraphicFramePr>
        <p:xfrm>
          <a:off x="539105" y="5109023"/>
          <a:ext cx="10515600" cy="365760"/>
        </p:xfrm>
        <a:graphic>
          <a:graphicData uri="http://schemas.openxmlformats.org/drawingml/2006/table">
            <a:tbl>
              <a:tblPr/>
              <a:tblGrid>
                <a:gridCol w="1314450">
                  <a:extLst>
                    <a:ext uri="{9D8B030D-6E8A-4147-A177-3AD203B41FA5}">
                      <a16:colId xmlns:a16="http://schemas.microsoft.com/office/drawing/2014/main" val="2826777321"/>
                    </a:ext>
                  </a:extLst>
                </a:gridCol>
                <a:gridCol w="1314450">
                  <a:extLst>
                    <a:ext uri="{9D8B030D-6E8A-4147-A177-3AD203B41FA5}">
                      <a16:colId xmlns:a16="http://schemas.microsoft.com/office/drawing/2014/main" val="3812961919"/>
                    </a:ext>
                  </a:extLst>
                </a:gridCol>
                <a:gridCol w="1314450">
                  <a:extLst>
                    <a:ext uri="{9D8B030D-6E8A-4147-A177-3AD203B41FA5}">
                      <a16:colId xmlns:a16="http://schemas.microsoft.com/office/drawing/2014/main" val="2168070279"/>
                    </a:ext>
                  </a:extLst>
                </a:gridCol>
                <a:gridCol w="1314450">
                  <a:extLst>
                    <a:ext uri="{9D8B030D-6E8A-4147-A177-3AD203B41FA5}">
                      <a16:colId xmlns:a16="http://schemas.microsoft.com/office/drawing/2014/main" val="632906758"/>
                    </a:ext>
                  </a:extLst>
                </a:gridCol>
                <a:gridCol w="1314450">
                  <a:extLst>
                    <a:ext uri="{9D8B030D-6E8A-4147-A177-3AD203B41FA5}">
                      <a16:colId xmlns:a16="http://schemas.microsoft.com/office/drawing/2014/main" val="2311231439"/>
                    </a:ext>
                  </a:extLst>
                </a:gridCol>
                <a:gridCol w="1314450">
                  <a:extLst>
                    <a:ext uri="{9D8B030D-6E8A-4147-A177-3AD203B41FA5}">
                      <a16:colId xmlns:a16="http://schemas.microsoft.com/office/drawing/2014/main" val="3617801671"/>
                    </a:ext>
                  </a:extLst>
                </a:gridCol>
                <a:gridCol w="1314450">
                  <a:extLst>
                    <a:ext uri="{9D8B030D-6E8A-4147-A177-3AD203B41FA5}">
                      <a16:colId xmlns:a16="http://schemas.microsoft.com/office/drawing/2014/main" val="1572264620"/>
                    </a:ext>
                  </a:extLst>
                </a:gridCol>
                <a:gridCol w="1314450">
                  <a:extLst>
                    <a:ext uri="{9D8B030D-6E8A-4147-A177-3AD203B41FA5}">
                      <a16:colId xmlns:a16="http://schemas.microsoft.com/office/drawing/2014/main" val="3982335864"/>
                    </a:ext>
                  </a:extLst>
                </a:gridCol>
              </a:tblGrid>
              <a:tr h="0">
                <a:tc>
                  <a:txBody>
                    <a:bodyPr/>
                    <a:lstStyle/>
                    <a:p>
                      <a:pPr>
                        <a:buNone/>
                      </a:pPr>
                      <a:r>
                        <a:rPr lang="en-US"/>
                        <a:t>P3</a:t>
                      </a:r>
                    </a:p>
                  </a:txBody>
                  <a:tcPr anchor="ctr">
                    <a:lnL>
                      <a:noFill/>
                    </a:lnL>
                    <a:lnR>
                      <a:noFill/>
                    </a:lnR>
                    <a:lnT>
                      <a:noFill/>
                    </a:lnT>
                    <a:lnB>
                      <a:noFill/>
                    </a:lnB>
                    <a:noFill/>
                  </a:tcPr>
                </a:tc>
                <a:tc>
                  <a:txBody>
                    <a:bodyPr/>
                    <a:lstStyle/>
                    <a:p>
                      <a:pPr>
                        <a:buNone/>
                      </a:pPr>
                      <a:r>
                        <a:rPr lang="en-US"/>
                        <a:t>0</a:t>
                      </a:r>
                    </a:p>
                  </a:txBody>
                  <a:tcPr anchor="ctr">
                    <a:lnL>
                      <a:noFill/>
                    </a:lnL>
                    <a:lnR>
                      <a:noFill/>
                    </a:lnR>
                    <a:lnT>
                      <a:noFill/>
                    </a:lnT>
                    <a:lnB>
                      <a:noFill/>
                    </a:lnB>
                    <a:noFill/>
                  </a:tcPr>
                </a:tc>
                <a:tc>
                  <a:txBody>
                    <a:bodyPr/>
                    <a:lstStyle/>
                    <a:p>
                      <a:pPr>
                        <a:buNone/>
                      </a:pPr>
                      <a:r>
                        <a:rPr lang="en-US" dirty="0"/>
                        <a:t>7</a:t>
                      </a:r>
                    </a:p>
                  </a:txBody>
                  <a:tcPr anchor="ctr">
                    <a:lnL>
                      <a:noFill/>
                    </a:lnL>
                    <a:lnR>
                      <a:noFill/>
                    </a:lnR>
                    <a:lnT>
                      <a:noFill/>
                    </a:lnT>
                    <a:lnB>
                      <a:noFill/>
                    </a:lnB>
                    <a:noFill/>
                  </a:tcPr>
                </a:tc>
                <a:tc>
                  <a:txBody>
                    <a:bodyPr/>
                    <a:lstStyle/>
                    <a:p>
                      <a:pPr>
                        <a:buNone/>
                      </a:pPr>
                      <a:r>
                        <a:rPr lang="en-US" dirty="0"/>
                        <a:t>9</a:t>
                      </a:r>
                    </a:p>
                  </a:txBody>
                  <a:tcPr anchor="ctr">
                    <a:lnL>
                      <a:noFill/>
                    </a:lnL>
                    <a:lnR>
                      <a:noFill/>
                    </a:lnR>
                    <a:lnT>
                      <a:noFill/>
                    </a:lnT>
                    <a:lnB>
                      <a:noFill/>
                    </a:lnB>
                    <a:noFill/>
                  </a:tcPr>
                </a:tc>
                <a:tc>
                  <a:txBody>
                    <a:bodyPr/>
                    <a:lstStyle/>
                    <a:p>
                      <a:pPr>
                        <a:buNone/>
                      </a:pPr>
                      <a:r>
                        <a:rPr lang="en-US"/>
                        <a:t>9</a:t>
                      </a:r>
                    </a:p>
                  </a:txBody>
                  <a:tcPr anchor="ctr">
                    <a:lnL>
                      <a:noFill/>
                    </a:lnL>
                    <a:lnR>
                      <a:noFill/>
                    </a:lnR>
                    <a:lnT>
                      <a:noFill/>
                    </a:lnT>
                    <a:lnB>
                      <a:noFill/>
                    </a:lnB>
                    <a:noFill/>
                  </a:tcPr>
                </a:tc>
                <a:tc>
                  <a:txBody>
                    <a:bodyPr/>
                    <a:lstStyle/>
                    <a:p>
                      <a:pPr>
                        <a:buNone/>
                      </a:pPr>
                      <a:r>
                        <a:rPr lang="en-US"/>
                        <a:t>16</a:t>
                      </a:r>
                    </a:p>
                  </a:txBody>
                  <a:tcPr anchor="ctr">
                    <a:lnL>
                      <a:noFill/>
                    </a:lnL>
                    <a:lnR>
                      <a:noFill/>
                    </a:lnR>
                    <a:lnT>
                      <a:noFill/>
                    </a:lnT>
                    <a:lnB>
                      <a:noFill/>
                    </a:lnB>
                    <a:noFill/>
                  </a:tcPr>
                </a:tc>
                <a:tc>
                  <a:txBody>
                    <a:bodyPr/>
                    <a:lstStyle/>
                    <a:p>
                      <a:pPr>
                        <a:buNone/>
                      </a:pPr>
                      <a:r>
                        <a:rPr lang="en-US"/>
                        <a:t>16</a:t>
                      </a:r>
                    </a:p>
                  </a:txBody>
                  <a:tcPr anchor="ctr">
                    <a:lnL>
                      <a:noFill/>
                    </a:lnL>
                    <a:lnR>
                      <a:noFill/>
                    </a:lnR>
                    <a:lnT>
                      <a:noFill/>
                    </a:lnT>
                    <a:lnB>
                      <a:noFill/>
                    </a:lnB>
                    <a:noFill/>
                  </a:tcPr>
                </a:tc>
                <a:tc>
                  <a:txBody>
                    <a:bodyPr/>
                    <a:lstStyle/>
                    <a:p>
                      <a:pPr>
                        <a:buNone/>
                      </a:pPr>
                      <a:r>
                        <a:rPr lang="en-US" dirty="0"/>
                        <a:t>PASS</a:t>
                      </a:r>
                    </a:p>
                  </a:txBody>
                  <a:tcPr anchor="ctr">
                    <a:lnL>
                      <a:noFill/>
                    </a:lnL>
                    <a:lnR>
                      <a:noFill/>
                    </a:lnR>
                    <a:lnT>
                      <a:noFill/>
                    </a:lnT>
                    <a:lnB>
                      <a:noFill/>
                    </a:lnB>
                    <a:noFill/>
                  </a:tcPr>
                </a:tc>
                <a:extLst>
                  <a:ext uri="{0D108BD9-81ED-4DB2-BD59-A6C34878D82A}">
                    <a16:rowId xmlns:a16="http://schemas.microsoft.com/office/drawing/2014/main" val="1661332752"/>
                  </a:ext>
                </a:extLst>
              </a:tr>
            </a:tbl>
          </a:graphicData>
        </a:graphic>
      </p:graphicFrame>
      <p:graphicFrame>
        <p:nvGraphicFramePr>
          <p:cNvPr id="30" name="Table 29">
            <a:extLst>
              <a:ext uri="{FF2B5EF4-FFF2-40B4-BE49-F238E27FC236}">
                <a16:creationId xmlns:a16="http://schemas.microsoft.com/office/drawing/2014/main" id="{E0227788-384C-0382-F3FD-EE14EAA170C5}"/>
              </a:ext>
            </a:extLst>
          </p:cNvPr>
          <p:cNvGraphicFramePr>
            <a:graphicFrameLocks noGrp="1"/>
          </p:cNvGraphicFramePr>
          <p:nvPr>
            <p:extLst>
              <p:ext uri="{D42A27DB-BD31-4B8C-83A1-F6EECF244321}">
                <p14:modId xmlns:p14="http://schemas.microsoft.com/office/powerpoint/2010/main" val="2352438594"/>
              </p:ext>
            </p:extLst>
          </p:nvPr>
        </p:nvGraphicFramePr>
        <p:xfrm>
          <a:off x="539105" y="4808740"/>
          <a:ext cx="10515600" cy="365760"/>
        </p:xfrm>
        <a:graphic>
          <a:graphicData uri="http://schemas.openxmlformats.org/drawingml/2006/table">
            <a:tbl>
              <a:tblPr/>
              <a:tblGrid>
                <a:gridCol w="1314450">
                  <a:extLst>
                    <a:ext uri="{9D8B030D-6E8A-4147-A177-3AD203B41FA5}">
                      <a16:colId xmlns:a16="http://schemas.microsoft.com/office/drawing/2014/main" val="4110996439"/>
                    </a:ext>
                  </a:extLst>
                </a:gridCol>
                <a:gridCol w="1314450">
                  <a:extLst>
                    <a:ext uri="{9D8B030D-6E8A-4147-A177-3AD203B41FA5}">
                      <a16:colId xmlns:a16="http://schemas.microsoft.com/office/drawing/2014/main" val="915900873"/>
                    </a:ext>
                  </a:extLst>
                </a:gridCol>
                <a:gridCol w="1314450">
                  <a:extLst>
                    <a:ext uri="{9D8B030D-6E8A-4147-A177-3AD203B41FA5}">
                      <a16:colId xmlns:a16="http://schemas.microsoft.com/office/drawing/2014/main" val="790549935"/>
                    </a:ext>
                  </a:extLst>
                </a:gridCol>
                <a:gridCol w="1314450">
                  <a:extLst>
                    <a:ext uri="{9D8B030D-6E8A-4147-A177-3AD203B41FA5}">
                      <a16:colId xmlns:a16="http://schemas.microsoft.com/office/drawing/2014/main" val="1459699445"/>
                    </a:ext>
                  </a:extLst>
                </a:gridCol>
                <a:gridCol w="1314450">
                  <a:extLst>
                    <a:ext uri="{9D8B030D-6E8A-4147-A177-3AD203B41FA5}">
                      <a16:colId xmlns:a16="http://schemas.microsoft.com/office/drawing/2014/main" val="849749195"/>
                    </a:ext>
                  </a:extLst>
                </a:gridCol>
                <a:gridCol w="1314450">
                  <a:extLst>
                    <a:ext uri="{9D8B030D-6E8A-4147-A177-3AD203B41FA5}">
                      <a16:colId xmlns:a16="http://schemas.microsoft.com/office/drawing/2014/main" val="3898909634"/>
                    </a:ext>
                  </a:extLst>
                </a:gridCol>
                <a:gridCol w="1314450">
                  <a:extLst>
                    <a:ext uri="{9D8B030D-6E8A-4147-A177-3AD203B41FA5}">
                      <a16:colId xmlns:a16="http://schemas.microsoft.com/office/drawing/2014/main" val="1568782814"/>
                    </a:ext>
                  </a:extLst>
                </a:gridCol>
                <a:gridCol w="1314450">
                  <a:extLst>
                    <a:ext uri="{9D8B030D-6E8A-4147-A177-3AD203B41FA5}">
                      <a16:colId xmlns:a16="http://schemas.microsoft.com/office/drawing/2014/main" val="2127068668"/>
                    </a:ext>
                  </a:extLst>
                </a:gridCol>
              </a:tblGrid>
              <a:tr h="0">
                <a:tc>
                  <a:txBody>
                    <a:bodyPr/>
                    <a:lstStyle/>
                    <a:p>
                      <a:pPr>
                        <a:buNone/>
                      </a:pPr>
                      <a:r>
                        <a:rPr lang="en-US"/>
                        <a:t>P2</a:t>
                      </a:r>
                    </a:p>
                  </a:txBody>
                  <a:tcPr anchor="ctr">
                    <a:lnL>
                      <a:noFill/>
                    </a:lnL>
                    <a:lnR>
                      <a:noFill/>
                    </a:lnR>
                    <a:lnT>
                      <a:noFill/>
                    </a:lnT>
                    <a:lnB>
                      <a:noFill/>
                    </a:lnB>
                    <a:noFill/>
                  </a:tcPr>
                </a:tc>
                <a:tc>
                  <a:txBody>
                    <a:bodyPr/>
                    <a:lstStyle/>
                    <a:p>
                      <a:pPr>
                        <a:buNone/>
                      </a:pPr>
                      <a:r>
                        <a:rPr lang="en-US"/>
                        <a:t>0</a:t>
                      </a:r>
                    </a:p>
                  </a:txBody>
                  <a:tcPr anchor="ctr">
                    <a:lnL>
                      <a:noFill/>
                    </a:lnL>
                    <a:lnR>
                      <a:noFill/>
                    </a:lnR>
                    <a:lnT>
                      <a:noFill/>
                    </a:lnT>
                    <a:lnB>
                      <a:noFill/>
                    </a:lnB>
                    <a:noFill/>
                  </a:tcPr>
                </a:tc>
                <a:tc>
                  <a:txBody>
                    <a:bodyPr/>
                    <a:lstStyle/>
                    <a:p>
                      <a:pPr>
                        <a:buNone/>
                      </a:pPr>
                      <a:r>
                        <a:rPr lang="en-US" dirty="0"/>
                        <a:t>8</a:t>
                      </a:r>
                    </a:p>
                  </a:txBody>
                  <a:tcPr anchor="ctr">
                    <a:lnL>
                      <a:noFill/>
                    </a:lnL>
                    <a:lnR>
                      <a:noFill/>
                    </a:lnR>
                    <a:lnT>
                      <a:noFill/>
                    </a:lnT>
                    <a:lnB>
                      <a:noFill/>
                    </a:lnB>
                    <a:noFill/>
                  </a:tcPr>
                </a:tc>
                <a:tc>
                  <a:txBody>
                    <a:bodyPr/>
                    <a:lstStyle/>
                    <a:p>
                      <a:pPr>
                        <a:buNone/>
                      </a:pPr>
                      <a:r>
                        <a:rPr lang="en-US"/>
                        <a:t>16</a:t>
                      </a:r>
                    </a:p>
                  </a:txBody>
                  <a:tcPr anchor="ctr">
                    <a:lnL>
                      <a:noFill/>
                    </a:lnL>
                    <a:lnR>
                      <a:noFill/>
                    </a:lnR>
                    <a:lnT>
                      <a:noFill/>
                    </a:lnT>
                    <a:lnB>
                      <a:noFill/>
                    </a:lnB>
                    <a:noFill/>
                  </a:tcPr>
                </a:tc>
                <a:tc>
                  <a:txBody>
                    <a:bodyPr/>
                    <a:lstStyle/>
                    <a:p>
                      <a:pPr>
                        <a:buNone/>
                      </a:pPr>
                      <a:r>
                        <a:rPr lang="en-US" dirty="0"/>
                        <a:t>16</a:t>
                      </a:r>
                    </a:p>
                  </a:txBody>
                  <a:tcPr anchor="ctr">
                    <a:lnL>
                      <a:noFill/>
                    </a:lnL>
                    <a:lnR>
                      <a:noFill/>
                    </a:lnR>
                    <a:lnT>
                      <a:noFill/>
                    </a:lnT>
                    <a:lnB>
                      <a:noFill/>
                    </a:lnB>
                    <a:noFill/>
                  </a:tcPr>
                </a:tc>
                <a:tc>
                  <a:txBody>
                    <a:bodyPr/>
                    <a:lstStyle/>
                    <a:p>
                      <a:pPr>
                        <a:buNone/>
                      </a:pPr>
                      <a:r>
                        <a:rPr lang="en-US"/>
                        <a:t>24</a:t>
                      </a:r>
                    </a:p>
                  </a:txBody>
                  <a:tcPr anchor="ctr">
                    <a:lnL>
                      <a:noFill/>
                    </a:lnL>
                    <a:lnR>
                      <a:noFill/>
                    </a:lnR>
                    <a:lnT>
                      <a:noFill/>
                    </a:lnT>
                    <a:lnB>
                      <a:noFill/>
                    </a:lnB>
                    <a:noFill/>
                  </a:tcPr>
                </a:tc>
                <a:tc>
                  <a:txBody>
                    <a:bodyPr/>
                    <a:lstStyle/>
                    <a:p>
                      <a:pPr>
                        <a:buNone/>
                      </a:pPr>
                      <a:r>
                        <a:rPr lang="en-US"/>
                        <a:t>24</a:t>
                      </a:r>
                    </a:p>
                  </a:txBody>
                  <a:tcPr anchor="ctr">
                    <a:lnL>
                      <a:noFill/>
                    </a:lnL>
                    <a:lnR>
                      <a:noFill/>
                    </a:lnR>
                    <a:lnT>
                      <a:noFill/>
                    </a:lnT>
                    <a:lnB>
                      <a:noFill/>
                    </a:lnB>
                    <a:noFill/>
                  </a:tcPr>
                </a:tc>
                <a:tc>
                  <a:txBody>
                    <a:bodyPr/>
                    <a:lstStyle/>
                    <a:p>
                      <a:pPr>
                        <a:buNone/>
                      </a:pPr>
                      <a:r>
                        <a:rPr lang="en-US" dirty="0"/>
                        <a:t>PASS</a:t>
                      </a:r>
                    </a:p>
                  </a:txBody>
                  <a:tcPr anchor="ctr">
                    <a:lnL>
                      <a:noFill/>
                    </a:lnL>
                    <a:lnR>
                      <a:noFill/>
                    </a:lnR>
                    <a:lnT>
                      <a:noFill/>
                    </a:lnT>
                    <a:lnB>
                      <a:noFill/>
                    </a:lnB>
                    <a:noFill/>
                  </a:tcPr>
                </a:tc>
                <a:extLst>
                  <a:ext uri="{0D108BD9-81ED-4DB2-BD59-A6C34878D82A}">
                    <a16:rowId xmlns:a16="http://schemas.microsoft.com/office/drawing/2014/main" val="1477615995"/>
                  </a:ext>
                </a:extLst>
              </a:tr>
            </a:tbl>
          </a:graphicData>
        </a:graphic>
      </p:graphicFrame>
      <p:sp>
        <p:nvSpPr>
          <p:cNvPr id="32" name="TextBox 31">
            <a:extLst>
              <a:ext uri="{FF2B5EF4-FFF2-40B4-BE49-F238E27FC236}">
                <a16:creationId xmlns:a16="http://schemas.microsoft.com/office/drawing/2014/main" id="{13E2BC96-A95A-6218-468C-F626AB0F85BA}"/>
              </a:ext>
            </a:extLst>
          </p:cNvPr>
          <p:cNvSpPr txBox="1"/>
          <p:nvPr/>
        </p:nvSpPr>
        <p:spPr>
          <a:xfrm>
            <a:off x="3473931" y="5897418"/>
            <a:ext cx="6183744" cy="369332"/>
          </a:xfrm>
          <a:prstGeom prst="rect">
            <a:avLst/>
          </a:prstGeom>
          <a:noFill/>
        </p:spPr>
        <p:txBody>
          <a:bodyPr wrap="square">
            <a:spAutoFit/>
          </a:bodyPr>
          <a:lstStyle/>
          <a:p>
            <a:r>
              <a:rPr lang="en-US" b="1" dirty="0"/>
              <a:t>Avg WT = 7.00</a:t>
            </a:r>
            <a:r>
              <a:rPr lang="en-US" dirty="0"/>
              <a:t> | </a:t>
            </a:r>
            <a:r>
              <a:rPr lang="en-US" b="1" dirty="0"/>
              <a:t>Avg TAT = 13.00</a:t>
            </a:r>
            <a:endParaRPr lang="en-US" dirty="0"/>
          </a:p>
        </p:txBody>
      </p:sp>
    </p:spTree>
    <p:extLst>
      <p:ext uri="{BB962C8B-B14F-4D97-AF65-F5344CB8AC3E}">
        <p14:creationId xmlns:p14="http://schemas.microsoft.com/office/powerpoint/2010/main" val="391348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CBE3CB4F-A035-812A-8556-BC928045EB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751B4EC-5A08-EDB9-5A52-511C247334DA}"/>
              </a:ext>
            </a:extLst>
          </p:cNvPr>
          <p:cNvSpPr/>
          <p:nvPr/>
        </p:nvSpPr>
        <p:spPr>
          <a:xfrm>
            <a:off x="0" y="960582"/>
            <a:ext cx="12192000" cy="7758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3A81B0C7-027B-EC7C-59EC-38BD2506D7D4}"/>
              </a:ext>
            </a:extLst>
          </p:cNvPr>
          <p:cNvSpPr txBox="1"/>
          <p:nvPr/>
        </p:nvSpPr>
        <p:spPr>
          <a:xfrm>
            <a:off x="-166254" y="1056121"/>
            <a:ext cx="12192000" cy="584775"/>
          </a:xfrm>
          <a:prstGeom prst="rect">
            <a:avLst/>
          </a:prstGeom>
          <a:noFill/>
        </p:spPr>
        <p:txBody>
          <a:bodyPr wrap="square" rtlCol="0">
            <a:spAutoFit/>
          </a:bodyPr>
          <a:lstStyle/>
          <a:p>
            <a:pPr algn="ctr"/>
            <a:r>
              <a:rPr lang="vi-VN" sz="3200" b="1">
                <a:solidFill>
                  <a:schemeClr val="bg1"/>
                </a:solidFill>
              </a:rPr>
              <a:t>GIAO DIỆN NGƯỜI DÙNG (GUI)</a:t>
            </a:r>
          </a:p>
        </p:txBody>
      </p:sp>
      <p:sp>
        <p:nvSpPr>
          <p:cNvPr id="5" name="TextBox 4">
            <a:extLst>
              <a:ext uri="{FF2B5EF4-FFF2-40B4-BE49-F238E27FC236}">
                <a16:creationId xmlns:a16="http://schemas.microsoft.com/office/drawing/2014/main" id="{49D0D6A8-54EC-AA46-5400-3334806C58B2}"/>
              </a:ext>
            </a:extLst>
          </p:cNvPr>
          <p:cNvSpPr txBox="1"/>
          <p:nvPr/>
        </p:nvSpPr>
        <p:spPr>
          <a:xfrm>
            <a:off x="0" y="1929612"/>
            <a:ext cx="5604164" cy="1508105"/>
          </a:xfrm>
          <a:prstGeom prst="rect">
            <a:avLst/>
          </a:prstGeom>
          <a:noFill/>
        </p:spPr>
        <p:txBody>
          <a:bodyPr wrap="square">
            <a:spAutoFit/>
          </a:bodyPr>
          <a:lstStyle/>
          <a:p>
            <a:pPr>
              <a:buNone/>
            </a:pPr>
            <a:r>
              <a:rPr lang="en-US" sz="2000" b="1" dirty="0"/>
              <a:t>Mục </a:t>
            </a:r>
            <a:r>
              <a:rPr lang="en-US" sz="2000" b="1" dirty="0" err="1"/>
              <a:t>đích</a:t>
            </a:r>
            <a:r>
              <a:rPr lang="en-US" sz="2000" b="1" dirty="0"/>
              <a:t>:</a:t>
            </a:r>
          </a:p>
          <a:p>
            <a:pPr marL="285750" indent="-285750">
              <a:buFont typeface="Arial" panose="020B0604020202020204" pitchFamily="34" charset="0"/>
              <a:buChar char="•"/>
            </a:pPr>
            <a:r>
              <a:rPr lang="en-US" dirty="0" err="1"/>
              <a:t>Xây</a:t>
            </a:r>
            <a:r>
              <a:rPr lang="en-US" dirty="0"/>
              <a:t> </a:t>
            </a:r>
            <a:r>
              <a:rPr lang="en-US" dirty="0" err="1"/>
              <a:t>dựng</a:t>
            </a:r>
            <a:r>
              <a:rPr lang="en-US" dirty="0"/>
              <a:t> </a:t>
            </a:r>
            <a:r>
              <a:rPr lang="en-US" dirty="0" err="1"/>
              <a:t>giao</a:t>
            </a:r>
            <a:r>
              <a:rPr lang="en-US" dirty="0"/>
              <a:t> </a:t>
            </a:r>
            <a:r>
              <a:rPr lang="en-US" dirty="0" err="1"/>
              <a:t>diện</a:t>
            </a:r>
            <a:r>
              <a:rPr lang="en-US" dirty="0"/>
              <a:t> </a:t>
            </a:r>
            <a:r>
              <a:rPr lang="en-US" dirty="0" err="1"/>
              <a:t>trực</a:t>
            </a:r>
            <a:r>
              <a:rPr lang="en-US" dirty="0"/>
              <a:t> </a:t>
            </a:r>
            <a:r>
              <a:rPr lang="en-US" dirty="0" err="1"/>
              <a:t>quan</a:t>
            </a:r>
            <a:r>
              <a:rPr lang="en-US" dirty="0"/>
              <a:t>, </a:t>
            </a:r>
            <a:r>
              <a:rPr lang="en-US" dirty="0" err="1"/>
              <a:t>dễ</a:t>
            </a:r>
            <a:r>
              <a:rPr lang="en-US" dirty="0"/>
              <a:t> </a:t>
            </a:r>
            <a:r>
              <a:rPr lang="en-US" dirty="0" err="1"/>
              <a:t>sử</a:t>
            </a:r>
            <a:r>
              <a:rPr lang="en-US" dirty="0"/>
              <a:t> </a:t>
            </a:r>
            <a:r>
              <a:rPr lang="en-US" dirty="0" err="1"/>
              <a:t>dụng</a:t>
            </a:r>
            <a:endParaRPr lang="en-US" dirty="0"/>
          </a:p>
          <a:p>
            <a:pPr marL="285750" indent="-285750">
              <a:buFont typeface="Arial" panose="020B0604020202020204" pitchFamily="34" charset="0"/>
              <a:buChar char="•"/>
            </a:pPr>
            <a:r>
              <a:rPr lang="vi-VN" dirty="0"/>
              <a:t>Hỗ trợ người dùng thao tác nhanh với dữ liệu tiến trình</a:t>
            </a:r>
            <a:endParaRPr lang="en-US" dirty="0"/>
          </a:p>
          <a:p>
            <a:pPr marL="285750" indent="-285750">
              <a:buFont typeface="Arial" panose="020B0604020202020204" pitchFamily="34" charset="0"/>
              <a:buChar char="•"/>
            </a:pPr>
            <a:r>
              <a:rPr lang="en-US" dirty="0"/>
              <a:t>Hiển </a:t>
            </a:r>
            <a:r>
              <a:rPr lang="en-US" dirty="0" err="1"/>
              <a:t>thị</a:t>
            </a:r>
            <a:r>
              <a:rPr lang="en-US" dirty="0"/>
              <a:t> </a:t>
            </a:r>
            <a:r>
              <a:rPr lang="en-US" dirty="0" err="1"/>
              <a:t>kết</a:t>
            </a:r>
            <a:r>
              <a:rPr lang="en-US" dirty="0"/>
              <a:t> </a:t>
            </a:r>
            <a:r>
              <a:rPr lang="en-US" dirty="0" err="1"/>
              <a:t>quả</a:t>
            </a:r>
            <a:r>
              <a:rPr lang="en-US" dirty="0"/>
              <a:t> </a:t>
            </a:r>
            <a:r>
              <a:rPr lang="en-US" dirty="0" err="1"/>
              <a:t>mô</a:t>
            </a:r>
            <a:r>
              <a:rPr lang="en-US" dirty="0"/>
              <a:t> </a:t>
            </a:r>
            <a:r>
              <a:rPr lang="en-US" dirty="0" err="1"/>
              <a:t>phỏng</a:t>
            </a:r>
            <a:r>
              <a:rPr lang="en-US" dirty="0"/>
              <a:t> </a:t>
            </a:r>
            <a:r>
              <a:rPr lang="en-US" dirty="0" err="1"/>
              <a:t>một</a:t>
            </a:r>
            <a:r>
              <a:rPr lang="en-US" dirty="0"/>
              <a:t> </a:t>
            </a:r>
            <a:r>
              <a:rPr lang="en-US" dirty="0" err="1"/>
              <a:t>cách</a:t>
            </a:r>
            <a:r>
              <a:rPr lang="en-US" dirty="0"/>
              <a:t> </a:t>
            </a:r>
            <a:r>
              <a:rPr lang="en-US" dirty="0" err="1"/>
              <a:t>rõ</a:t>
            </a:r>
            <a:r>
              <a:rPr lang="en-US" dirty="0"/>
              <a:t> </a:t>
            </a:r>
            <a:r>
              <a:rPr lang="en-US" dirty="0" err="1"/>
              <a:t>ràng</a:t>
            </a:r>
            <a:endParaRPr lang="en-US" dirty="0"/>
          </a:p>
        </p:txBody>
      </p:sp>
      <p:sp>
        <p:nvSpPr>
          <p:cNvPr id="7" name="TextBox 6">
            <a:extLst>
              <a:ext uri="{FF2B5EF4-FFF2-40B4-BE49-F238E27FC236}">
                <a16:creationId xmlns:a16="http://schemas.microsoft.com/office/drawing/2014/main" id="{06C5D6CB-6891-1262-C330-84A18076235A}"/>
              </a:ext>
            </a:extLst>
          </p:cNvPr>
          <p:cNvSpPr txBox="1"/>
          <p:nvPr/>
        </p:nvSpPr>
        <p:spPr>
          <a:xfrm>
            <a:off x="5604164" y="1751824"/>
            <a:ext cx="6183744" cy="1846659"/>
          </a:xfrm>
          <a:prstGeom prst="rect">
            <a:avLst/>
          </a:prstGeom>
          <a:noFill/>
        </p:spPr>
        <p:txBody>
          <a:bodyPr wrap="square">
            <a:spAutoFit/>
          </a:bodyPr>
          <a:lstStyle/>
          <a:p>
            <a:r>
              <a:rPr lang="en-US" b="1" dirty="0"/>
              <a:t>Các </a:t>
            </a:r>
            <a:r>
              <a:rPr lang="en-US" b="1" dirty="0" err="1"/>
              <a:t>thành</a:t>
            </a:r>
            <a:r>
              <a:rPr lang="en-US" b="1" dirty="0"/>
              <a:t> </a:t>
            </a:r>
            <a:r>
              <a:rPr lang="en-US" b="1" dirty="0" err="1"/>
              <a:t>phần</a:t>
            </a:r>
            <a:r>
              <a:rPr lang="en-US" b="1" dirty="0"/>
              <a:t> </a:t>
            </a:r>
            <a:r>
              <a:rPr lang="en-US" b="1" dirty="0" err="1"/>
              <a:t>chính</a:t>
            </a:r>
            <a:r>
              <a:rPr lang="en-US" b="1" dirty="0"/>
              <a:t>:</a:t>
            </a:r>
          </a:p>
          <a:p>
            <a:pPr marL="285750" indent="-285750">
              <a:buFont typeface="Arial" panose="020B0604020202020204" pitchFamily="34" charset="0"/>
              <a:buChar char="•"/>
            </a:pPr>
            <a:r>
              <a:rPr lang="en-US" sz="1600" b="1" dirty="0"/>
              <a:t>Khu </a:t>
            </a:r>
            <a:r>
              <a:rPr lang="en-US" sz="1600" b="1" dirty="0" err="1"/>
              <a:t>vực</a:t>
            </a:r>
            <a:r>
              <a:rPr lang="en-US" sz="1600" b="1" dirty="0"/>
              <a:t> </a:t>
            </a:r>
            <a:r>
              <a:rPr lang="en-US" sz="1600" b="1" dirty="0" err="1"/>
              <a:t>nhập</a:t>
            </a:r>
            <a:r>
              <a:rPr lang="en-US" sz="1600" b="1" dirty="0"/>
              <a:t> </a:t>
            </a:r>
            <a:r>
              <a:rPr lang="en-US" sz="1600" b="1" dirty="0" err="1"/>
              <a:t>dữ</a:t>
            </a:r>
            <a:r>
              <a:rPr lang="en-US" sz="1600" b="1" dirty="0"/>
              <a:t> </a:t>
            </a:r>
            <a:r>
              <a:rPr lang="en-US" sz="1600" b="1" dirty="0" err="1"/>
              <a:t>liệu</a:t>
            </a:r>
            <a:r>
              <a:rPr lang="en-US" sz="1600" b="1" dirty="0"/>
              <a:t>:</a:t>
            </a:r>
            <a:r>
              <a:rPr lang="en-US" sz="1600" dirty="0"/>
              <a:t> </a:t>
            </a:r>
            <a:r>
              <a:rPr lang="en-US" sz="1600" dirty="0" err="1"/>
              <a:t>nhập</a:t>
            </a:r>
            <a:r>
              <a:rPr lang="en-US" sz="1600" dirty="0"/>
              <a:t> PID, Arrival Time, Burst Time</a:t>
            </a:r>
          </a:p>
          <a:p>
            <a:pPr marL="285750" indent="-285750">
              <a:buFont typeface="Arial" panose="020B0604020202020204" pitchFamily="34" charset="0"/>
              <a:buChar char="•"/>
            </a:pPr>
            <a:r>
              <a:rPr lang="en-US" sz="1600" b="1" dirty="0" err="1"/>
              <a:t>Nút</a:t>
            </a:r>
            <a:r>
              <a:rPr lang="en-US" sz="1600" b="1" dirty="0"/>
              <a:t> </a:t>
            </a:r>
            <a:r>
              <a:rPr lang="en-US" sz="1600" b="1" dirty="0" err="1"/>
              <a:t>chức</a:t>
            </a:r>
            <a:r>
              <a:rPr lang="en-US" sz="1600" b="1" dirty="0"/>
              <a:t> </a:t>
            </a:r>
            <a:r>
              <a:rPr lang="en-US" sz="1600" b="1" dirty="0" err="1"/>
              <a:t>năng</a:t>
            </a:r>
            <a:r>
              <a:rPr lang="en-US" sz="1600" b="1" dirty="0"/>
              <a:t>:</a:t>
            </a:r>
            <a:r>
              <a:rPr lang="en-US" sz="1600" dirty="0"/>
              <a:t> Load CSV, Run SJF, Export Result, Reset</a:t>
            </a:r>
          </a:p>
          <a:p>
            <a:pPr marL="285750" indent="-285750">
              <a:buFont typeface="Arial" panose="020B0604020202020204" pitchFamily="34" charset="0"/>
              <a:buChar char="•"/>
            </a:pPr>
            <a:r>
              <a:rPr lang="en-US" sz="1600" b="1" dirty="0" err="1"/>
              <a:t>Bảng</a:t>
            </a:r>
            <a:r>
              <a:rPr lang="en-US" sz="1600" b="1" dirty="0"/>
              <a:t> </a:t>
            </a:r>
            <a:r>
              <a:rPr lang="en-US" sz="1600" b="1" dirty="0" err="1"/>
              <a:t>dữ</a:t>
            </a:r>
            <a:r>
              <a:rPr lang="en-US" sz="1600" b="1" dirty="0"/>
              <a:t> </a:t>
            </a:r>
            <a:r>
              <a:rPr lang="en-US" sz="1600" b="1" dirty="0" err="1"/>
              <a:t>liệu</a:t>
            </a:r>
            <a:r>
              <a:rPr lang="en-US" sz="1600" b="1" dirty="0"/>
              <a:t>:</a:t>
            </a:r>
            <a:r>
              <a:rPr lang="en-US" sz="1600" dirty="0"/>
              <a:t> </a:t>
            </a:r>
            <a:r>
              <a:rPr lang="en-US" sz="1600" dirty="0" err="1"/>
              <a:t>hiển</a:t>
            </a:r>
            <a:r>
              <a:rPr lang="en-US" sz="1600" dirty="0"/>
              <a:t> </a:t>
            </a:r>
            <a:r>
              <a:rPr lang="en-US" sz="1600" dirty="0" err="1"/>
              <a:t>thị</a:t>
            </a:r>
            <a:r>
              <a:rPr lang="en-US" sz="1600" dirty="0"/>
              <a:t> </a:t>
            </a:r>
            <a:r>
              <a:rPr lang="en-US" sz="1600" dirty="0" err="1"/>
              <a:t>danh</a:t>
            </a:r>
            <a:r>
              <a:rPr lang="en-US" sz="1600" dirty="0"/>
              <a:t> </a:t>
            </a:r>
            <a:r>
              <a:rPr lang="en-US" sz="1600" dirty="0" err="1"/>
              <a:t>sách</a:t>
            </a:r>
            <a:r>
              <a:rPr lang="en-US" sz="1600" dirty="0"/>
              <a:t> </a:t>
            </a:r>
            <a:r>
              <a:rPr lang="en-US" sz="1600" dirty="0" err="1"/>
              <a:t>các</a:t>
            </a:r>
            <a:r>
              <a:rPr lang="en-US" sz="1600" dirty="0"/>
              <a:t> </a:t>
            </a:r>
            <a:r>
              <a:rPr lang="en-US" sz="1600" dirty="0" err="1"/>
              <a:t>tiến</a:t>
            </a:r>
            <a:r>
              <a:rPr lang="en-US" sz="1600" dirty="0"/>
              <a:t> </a:t>
            </a:r>
            <a:r>
              <a:rPr lang="en-US" sz="1600" dirty="0" err="1"/>
              <a:t>trình</a:t>
            </a:r>
            <a:endParaRPr lang="en-US" sz="1600" dirty="0"/>
          </a:p>
          <a:p>
            <a:pPr marL="285750" indent="-285750">
              <a:buFont typeface="Arial" panose="020B0604020202020204" pitchFamily="34" charset="0"/>
              <a:buChar char="•"/>
            </a:pPr>
            <a:r>
              <a:rPr lang="en-US" sz="1600" b="1" dirty="0"/>
              <a:t>Khu </a:t>
            </a:r>
            <a:r>
              <a:rPr lang="en-US" sz="1600" b="1" dirty="0" err="1"/>
              <a:t>vực</a:t>
            </a:r>
            <a:r>
              <a:rPr lang="en-US" sz="1600" b="1" dirty="0"/>
              <a:t> </a:t>
            </a:r>
            <a:r>
              <a:rPr lang="en-US" sz="1600" b="1" dirty="0" err="1"/>
              <a:t>kết</a:t>
            </a:r>
            <a:r>
              <a:rPr lang="en-US" sz="1600" b="1" dirty="0"/>
              <a:t> </a:t>
            </a:r>
            <a:r>
              <a:rPr lang="en-US" sz="1600" b="1" dirty="0" err="1"/>
              <a:t>quả</a:t>
            </a:r>
            <a:r>
              <a:rPr lang="en-US" sz="1600" b="1" dirty="0"/>
              <a:t>:</a:t>
            </a:r>
            <a:r>
              <a:rPr lang="en-US" sz="1600" dirty="0"/>
              <a:t> Waiting Time, Turnaround Time, Average WT, Average TAT</a:t>
            </a:r>
          </a:p>
          <a:p>
            <a:pPr marL="285750" indent="-285750">
              <a:buFont typeface="Arial" panose="020B0604020202020204" pitchFamily="34" charset="0"/>
              <a:buChar char="•"/>
            </a:pPr>
            <a:r>
              <a:rPr lang="en-US" sz="1600" b="1" dirty="0"/>
              <a:t>Gantt Chart:</a:t>
            </a:r>
            <a:r>
              <a:rPr lang="en-US" sz="1600" dirty="0"/>
              <a:t> </a:t>
            </a:r>
            <a:r>
              <a:rPr lang="en-US" sz="1600" dirty="0" err="1"/>
              <a:t>trực</a:t>
            </a:r>
            <a:r>
              <a:rPr lang="en-US" sz="1600" dirty="0"/>
              <a:t> </a:t>
            </a:r>
            <a:r>
              <a:rPr lang="en-US" sz="1600" dirty="0" err="1"/>
              <a:t>quan</a:t>
            </a:r>
            <a:r>
              <a:rPr lang="en-US" sz="1600" dirty="0"/>
              <a:t> </a:t>
            </a:r>
            <a:r>
              <a:rPr lang="en-US" sz="1600" dirty="0" err="1"/>
              <a:t>hóa</a:t>
            </a:r>
            <a:r>
              <a:rPr lang="en-US" sz="1600" dirty="0"/>
              <a:t> </a:t>
            </a:r>
            <a:r>
              <a:rPr lang="en-US" sz="1600" dirty="0" err="1"/>
              <a:t>thứ</a:t>
            </a:r>
            <a:r>
              <a:rPr lang="en-US" sz="1600" dirty="0"/>
              <a:t> </a:t>
            </a:r>
            <a:r>
              <a:rPr lang="en-US" sz="1600" dirty="0" err="1"/>
              <a:t>tự</a:t>
            </a:r>
            <a:r>
              <a:rPr lang="en-US" sz="1600" dirty="0"/>
              <a:t> </a:t>
            </a:r>
            <a:r>
              <a:rPr lang="en-US" sz="1600" dirty="0" err="1"/>
              <a:t>thực</a:t>
            </a:r>
            <a:r>
              <a:rPr lang="en-US" sz="1600" dirty="0"/>
              <a:t> </a:t>
            </a:r>
            <a:r>
              <a:rPr lang="en-US" sz="1600" dirty="0" err="1"/>
              <a:t>thi</a:t>
            </a:r>
            <a:r>
              <a:rPr lang="en-US" sz="1600" dirty="0"/>
              <a:t> </a:t>
            </a:r>
            <a:r>
              <a:rPr lang="en-US" sz="1600" dirty="0" err="1"/>
              <a:t>tiến</a:t>
            </a:r>
            <a:r>
              <a:rPr lang="en-US" sz="1600" dirty="0"/>
              <a:t> </a:t>
            </a:r>
            <a:r>
              <a:rPr lang="en-US" sz="1600" dirty="0" err="1"/>
              <a:t>trình</a:t>
            </a:r>
            <a:endParaRPr lang="en-US" sz="1600" b="1" dirty="0"/>
          </a:p>
        </p:txBody>
      </p:sp>
      <p:sp>
        <p:nvSpPr>
          <p:cNvPr id="9" name="TextBox 8">
            <a:extLst>
              <a:ext uri="{FF2B5EF4-FFF2-40B4-BE49-F238E27FC236}">
                <a16:creationId xmlns:a16="http://schemas.microsoft.com/office/drawing/2014/main" id="{38F4C64C-9CEC-7B61-925B-B02FC6D5E172}"/>
              </a:ext>
            </a:extLst>
          </p:cNvPr>
          <p:cNvSpPr txBox="1"/>
          <p:nvPr/>
        </p:nvSpPr>
        <p:spPr>
          <a:xfrm>
            <a:off x="0" y="3726434"/>
            <a:ext cx="5604164" cy="1508105"/>
          </a:xfrm>
          <a:prstGeom prst="rect">
            <a:avLst/>
          </a:prstGeom>
          <a:noFill/>
        </p:spPr>
        <p:txBody>
          <a:bodyPr wrap="square">
            <a:spAutoFit/>
          </a:bodyPr>
          <a:lstStyle/>
          <a:p>
            <a:pPr>
              <a:buNone/>
            </a:pPr>
            <a:r>
              <a:rPr lang="en-US" sz="2000" b="1" dirty="0"/>
              <a:t>Chức </a:t>
            </a:r>
            <a:r>
              <a:rPr lang="en-US" sz="2000" b="1" dirty="0" err="1"/>
              <a:t>năng</a:t>
            </a:r>
            <a:r>
              <a:rPr lang="en-US" sz="2000" b="1" dirty="0"/>
              <a:t>:</a:t>
            </a:r>
          </a:p>
          <a:p>
            <a:pPr marL="285750" indent="-285750">
              <a:buFont typeface="Arial" panose="020B0604020202020204" pitchFamily="34" charset="0"/>
              <a:buChar char="•"/>
            </a:pPr>
            <a:r>
              <a:rPr lang="en-US" dirty="0" err="1"/>
              <a:t>Đọc</a:t>
            </a:r>
            <a:r>
              <a:rPr lang="en-US" dirty="0"/>
              <a:t> </a:t>
            </a:r>
            <a:r>
              <a:rPr lang="en-US" dirty="0" err="1"/>
              <a:t>dữ</a:t>
            </a:r>
            <a:r>
              <a:rPr lang="en-US" dirty="0"/>
              <a:t> </a:t>
            </a:r>
            <a:r>
              <a:rPr lang="en-US" dirty="0" err="1"/>
              <a:t>liệu</a:t>
            </a:r>
            <a:r>
              <a:rPr lang="en-US" dirty="0"/>
              <a:t> </a:t>
            </a:r>
            <a:r>
              <a:rPr lang="en-US" dirty="0" err="1"/>
              <a:t>từ</a:t>
            </a:r>
            <a:r>
              <a:rPr lang="en-US" dirty="0"/>
              <a:t> file CSV</a:t>
            </a:r>
          </a:p>
          <a:p>
            <a:pPr marL="285750" indent="-285750">
              <a:buFont typeface="Arial" panose="020B0604020202020204" pitchFamily="34" charset="0"/>
              <a:buChar char="•"/>
            </a:pPr>
            <a:r>
              <a:rPr lang="en-US" dirty="0" err="1"/>
              <a:t>Thực</a:t>
            </a:r>
            <a:r>
              <a:rPr lang="en-US" dirty="0"/>
              <a:t> </a:t>
            </a:r>
            <a:r>
              <a:rPr lang="en-US" dirty="0" err="1"/>
              <a:t>thi</a:t>
            </a:r>
            <a:r>
              <a:rPr lang="en-US" dirty="0"/>
              <a:t> </a:t>
            </a:r>
            <a:r>
              <a:rPr lang="en-US" dirty="0" err="1"/>
              <a:t>thuật</a:t>
            </a:r>
            <a:r>
              <a:rPr lang="en-US" dirty="0"/>
              <a:t> </a:t>
            </a:r>
            <a:r>
              <a:rPr lang="en-US" dirty="0" err="1"/>
              <a:t>toán</a:t>
            </a:r>
            <a:r>
              <a:rPr lang="en-US" dirty="0"/>
              <a:t> SJF</a:t>
            </a:r>
          </a:p>
          <a:p>
            <a:pPr marL="285750" indent="-285750">
              <a:buFont typeface="Arial" panose="020B0604020202020204" pitchFamily="34" charset="0"/>
              <a:buChar char="•"/>
            </a:pPr>
            <a:r>
              <a:rPr lang="en-US" dirty="0"/>
              <a:t>Hiển </a:t>
            </a:r>
            <a:r>
              <a:rPr lang="en-US" dirty="0" err="1"/>
              <a:t>thị</a:t>
            </a:r>
            <a:r>
              <a:rPr lang="en-US" dirty="0"/>
              <a:t> </a:t>
            </a:r>
            <a:r>
              <a:rPr lang="en-US" dirty="0" err="1"/>
              <a:t>kết</a:t>
            </a:r>
            <a:r>
              <a:rPr lang="en-US" dirty="0"/>
              <a:t> </a:t>
            </a:r>
            <a:r>
              <a:rPr lang="en-US" dirty="0" err="1"/>
              <a:t>quả</a:t>
            </a:r>
            <a:r>
              <a:rPr lang="en-US" dirty="0"/>
              <a:t> </a:t>
            </a:r>
            <a:r>
              <a:rPr lang="en-US" dirty="0" err="1"/>
              <a:t>trên</a:t>
            </a:r>
            <a:r>
              <a:rPr lang="en-US" dirty="0"/>
              <a:t> </a:t>
            </a:r>
            <a:r>
              <a:rPr lang="en-US" dirty="0" err="1"/>
              <a:t>màn</a:t>
            </a:r>
            <a:r>
              <a:rPr lang="en-US" dirty="0"/>
              <a:t> </a:t>
            </a:r>
            <a:r>
              <a:rPr lang="en-US" dirty="0" err="1"/>
              <a:t>hình</a:t>
            </a:r>
            <a:endParaRPr lang="en-US" dirty="0"/>
          </a:p>
          <a:p>
            <a:pPr marL="285750" indent="-285750">
              <a:buFont typeface="Arial" panose="020B0604020202020204" pitchFamily="34" charset="0"/>
              <a:buChar char="•"/>
            </a:pPr>
            <a:r>
              <a:rPr lang="en-US" dirty="0" err="1"/>
              <a:t>Xuất</a:t>
            </a:r>
            <a:r>
              <a:rPr lang="en-US" dirty="0"/>
              <a:t> file </a:t>
            </a:r>
            <a:r>
              <a:rPr lang="en-US" dirty="0" err="1"/>
              <a:t>kết</a:t>
            </a:r>
            <a:r>
              <a:rPr lang="en-US" dirty="0"/>
              <a:t> </a:t>
            </a:r>
            <a:r>
              <a:rPr lang="en-US" dirty="0" err="1"/>
              <a:t>quả</a:t>
            </a:r>
            <a:endParaRPr lang="en-US" dirty="0"/>
          </a:p>
        </p:txBody>
      </p:sp>
      <p:sp>
        <p:nvSpPr>
          <p:cNvPr id="11" name="TextBox 10">
            <a:extLst>
              <a:ext uri="{FF2B5EF4-FFF2-40B4-BE49-F238E27FC236}">
                <a16:creationId xmlns:a16="http://schemas.microsoft.com/office/drawing/2014/main" id="{528C70B6-C706-C278-A3A3-58174C05352B}"/>
              </a:ext>
            </a:extLst>
          </p:cNvPr>
          <p:cNvSpPr txBox="1"/>
          <p:nvPr/>
        </p:nvSpPr>
        <p:spPr>
          <a:xfrm>
            <a:off x="5604164" y="3879329"/>
            <a:ext cx="6183744" cy="2308324"/>
          </a:xfrm>
          <a:prstGeom prst="rect">
            <a:avLst/>
          </a:prstGeom>
          <a:noFill/>
        </p:spPr>
        <p:txBody>
          <a:bodyPr wrap="square">
            <a:spAutoFit/>
          </a:bodyPr>
          <a:lstStyle/>
          <a:p>
            <a:r>
              <a:rPr lang="en-US" b="1" dirty="0"/>
              <a:t>Công </a:t>
            </a:r>
            <a:r>
              <a:rPr lang="en-US" b="1" dirty="0" err="1"/>
              <a:t>nghệ</a:t>
            </a:r>
            <a:r>
              <a:rPr lang="en-US" b="1" dirty="0"/>
              <a:t> </a:t>
            </a:r>
            <a:r>
              <a:rPr lang="en-US" b="1" dirty="0" err="1"/>
              <a:t>sử</a:t>
            </a:r>
            <a:r>
              <a:rPr lang="en-US" b="1" dirty="0"/>
              <a:t> </a:t>
            </a:r>
            <a:r>
              <a:rPr lang="en-US" b="1" dirty="0" err="1"/>
              <a:t>dụng</a:t>
            </a:r>
            <a:endParaRPr lang="en-US" b="1" dirty="0"/>
          </a:p>
          <a:p>
            <a:pPr marL="285750" indent="-285750">
              <a:buFont typeface="Arial" panose="020B0604020202020204" pitchFamily="34" charset="0"/>
              <a:buChar char="•"/>
            </a:pPr>
            <a:r>
              <a:rPr lang="en-US" dirty="0" err="1"/>
              <a:t>QMainWindow</a:t>
            </a:r>
            <a:r>
              <a:rPr lang="en-US" dirty="0"/>
              <a:t>: </a:t>
            </a:r>
            <a:r>
              <a:rPr lang="en-US" dirty="0" err="1"/>
              <a:t>cửa</a:t>
            </a:r>
            <a:r>
              <a:rPr lang="en-US" dirty="0"/>
              <a:t> </a:t>
            </a:r>
            <a:r>
              <a:rPr lang="en-US" dirty="0" err="1"/>
              <a:t>sổ</a:t>
            </a:r>
            <a:r>
              <a:rPr lang="en-US" dirty="0"/>
              <a:t> </a:t>
            </a:r>
            <a:r>
              <a:rPr lang="en-US" dirty="0" err="1"/>
              <a:t>chính</a:t>
            </a:r>
            <a:endParaRPr lang="en-US" dirty="0"/>
          </a:p>
          <a:p>
            <a:pPr marL="285750" indent="-285750">
              <a:buFont typeface="Arial" panose="020B0604020202020204" pitchFamily="34" charset="0"/>
              <a:buChar char="•"/>
            </a:pPr>
            <a:r>
              <a:rPr lang="en-US" dirty="0" err="1"/>
              <a:t>QPushButton</a:t>
            </a:r>
            <a:r>
              <a:rPr lang="en-US" dirty="0"/>
              <a:t>: </a:t>
            </a:r>
            <a:r>
              <a:rPr lang="en-US" dirty="0" err="1"/>
              <a:t>nút</a:t>
            </a:r>
            <a:r>
              <a:rPr lang="en-US" dirty="0"/>
              <a:t> </a:t>
            </a:r>
            <a:r>
              <a:rPr lang="en-US" dirty="0" err="1"/>
              <a:t>chức</a:t>
            </a:r>
            <a:r>
              <a:rPr lang="en-US" dirty="0"/>
              <a:t> </a:t>
            </a:r>
            <a:r>
              <a:rPr lang="en-US" dirty="0" err="1"/>
              <a:t>năng</a:t>
            </a:r>
            <a:endParaRPr lang="en-US" dirty="0"/>
          </a:p>
          <a:p>
            <a:pPr marL="285750" indent="-285750">
              <a:buFont typeface="Arial" panose="020B0604020202020204" pitchFamily="34" charset="0"/>
              <a:buChar char="•"/>
            </a:pPr>
            <a:r>
              <a:rPr lang="en-US" dirty="0" err="1"/>
              <a:t>QComboBox</a:t>
            </a:r>
            <a:r>
              <a:rPr lang="en-US" dirty="0"/>
              <a:t>: </a:t>
            </a:r>
            <a:r>
              <a:rPr lang="en-US" dirty="0" err="1"/>
              <a:t>chọn</a:t>
            </a:r>
            <a:r>
              <a:rPr lang="en-US" dirty="0"/>
              <a:t> </a:t>
            </a:r>
            <a:r>
              <a:rPr lang="en-US" dirty="0" err="1"/>
              <a:t>thuật</a:t>
            </a:r>
            <a:r>
              <a:rPr lang="en-US" dirty="0"/>
              <a:t> </a:t>
            </a:r>
            <a:r>
              <a:rPr lang="en-US" dirty="0" err="1"/>
              <a:t>toán</a:t>
            </a:r>
            <a:endParaRPr lang="en-US" dirty="0"/>
          </a:p>
          <a:p>
            <a:pPr marL="285750" indent="-285750">
              <a:buFont typeface="Arial" panose="020B0604020202020204" pitchFamily="34" charset="0"/>
              <a:buChar char="•"/>
            </a:pPr>
            <a:r>
              <a:rPr lang="en-US" dirty="0" err="1"/>
              <a:t>QLabel</a:t>
            </a:r>
            <a:r>
              <a:rPr lang="en-US" dirty="0"/>
              <a:t>: </a:t>
            </a:r>
            <a:r>
              <a:rPr lang="en-US" dirty="0" err="1"/>
              <a:t>hiển</a:t>
            </a:r>
            <a:r>
              <a:rPr lang="en-US" dirty="0"/>
              <a:t> </a:t>
            </a:r>
            <a:r>
              <a:rPr lang="en-US" dirty="0" err="1"/>
              <a:t>thị</a:t>
            </a:r>
            <a:r>
              <a:rPr lang="en-US" dirty="0"/>
              <a:t> </a:t>
            </a:r>
            <a:r>
              <a:rPr lang="en-US" dirty="0" err="1"/>
              <a:t>kết</a:t>
            </a:r>
            <a:r>
              <a:rPr lang="en-US" dirty="0"/>
              <a:t> </a:t>
            </a:r>
            <a:r>
              <a:rPr lang="en-US" dirty="0" err="1"/>
              <a:t>quả</a:t>
            </a:r>
            <a:endParaRPr lang="en-US" dirty="0"/>
          </a:p>
          <a:p>
            <a:pPr marL="285750" indent="-285750">
              <a:buFont typeface="Arial" panose="020B0604020202020204" pitchFamily="34" charset="0"/>
              <a:buChar char="•"/>
            </a:pPr>
            <a:r>
              <a:rPr lang="en-US" dirty="0" err="1"/>
              <a:t>QTableWidget</a:t>
            </a:r>
            <a:r>
              <a:rPr lang="en-US" dirty="0"/>
              <a:t>: </a:t>
            </a:r>
            <a:r>
              <a:rPr lang="en-US" dirty="0" err="1"/>
              <a:t>bảng</a:t>
            </a:r>
            <a:r>
              <a:rPr lang="en-US" dirty="0"/>
              <a:t> </a:t>
            </a:r>
            <a:r>
              <a:rPr lang="en-US" dirty="0" err="1"/>
              <a:t>dữ</a:t>
            </a:r>
            <a:r>
              <a:rPr lang="en-US" dirty="0"/>
              <a:t> </a:t>
            </a:r>
            <a:r>
              <a:rPr lang="en-US" dirty="0" err="1"/>
              <a:t>liệu</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3013261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AA8E310A-0A86-AE14-ECFD-616DE4DD0E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1C27447-10E6-DB1B-F3D8-E1C3E852893F}"/>
              </a:ext>
            </a:extLst>
          </p:cNvPr>
          <p:cNvSpPr/>
          <p:nvPr/>
        </p:nvSpPr>
        <p:spPr>
          <a:xfrm>
            <a:off x="0" y="960582"/>
            <a:ext cx="12192000" cy="7758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10B15118-8AB6-9C5B-434E-22A03727DA48}"/>
              </a:ext>
            </a:extLst>
          </p:cNvPr>
          <p:cNvSpPr txBox="1"/>
          <p:nvPr/>
        </p:nvSpPr>
        <p:spPr>
          <a:xfrm>
            <a:off x="-166254" y="1056121"/>
            <a:ext cx="12192000" cy="584775"/>
          </a:xfrm>
          <a:prstGeom prst="rect">
            <a:avLst/>
          </a:prstGeom>
          <a:noFill/>
        </p:spPr>
        <p:txBody>
          <a:bodyPr wrap="square" rtlCol="0">
            <a:spAutoFit/>
          </a:bodyPr>
          <a:lstStyle/>
          <a:p>
            <a:pPr algn="ctr"/>
            <a:r>
              <a:rPr lang="en-US" sz="3200" dirty="0">
                <a:solidFill>
                  <a:schemeClr val="bg1"/>
                </a:solidFill>
                <a:latin typeface="Times New Roman" panose="02020603050405020304" pitchFamily="18" charset="0"/>
                <a:cs typeface="Times New Roman" panose="02020603050405020304" pitchFamily="18" charset="0"/>
              </a:rPr>
              <a:t>KIẾN TRÚC HỆ THỐNG</a:t>
            </a:r>
          </a:p>
        </p:txBody>
      </p:sp>
      <p:sp>
        <p:nvSpPr>
          <p:cNvPr id="4" name="Rectangle: Rounded Corners 3">
            <a:extLst>
              <a:ext uri="{FF2B5EF4-FFF2-40B4-BE49-F238E27FC236}">
                <a16:creationId xmlns:a16="http://schemas.microsoft.com/office/drawing/2014/main" id="{DB3CFBAD-5CBE-4EA6-C1D5-A0DC9B8DF29B}"/>
              </a:ext>
            </a:extLst>
          </p:cNvPr>
          <p:cNvSpPr/>
          <p:nvPr/>
        </p:nvSpPr>
        <p:spPr>
          <a:xfrm>
            <a:off x="489526" y="1921164"/>
            <a:ext cx="2604655" cy="7758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LAYER</a:t>
            </a:r>
          </a:p>
        </p:txBody>
      </p:sp>
      <p:sp>
        <p:nvSpPr>
          <p:cNvPr id="7" name="Rectangle 6">
            <a:extLst>
              <a:ext uri="{FF2B5EF4-FFF2-40B4-BE49-F238E27FC236}">
                <a16:creationId xmlns:a16="http://schemas.microsoft.com/office/drawing/2014/main" id="{EC82ECB0-2FFE-933C-8611-58BE35928139}"/>
              </a:ext>
            </a:extLst>
          </p:cNvPr>
          <p:cNvSpPr/>
          <p:nvPr/>
        </p:nvSpPr>
        <p:spPr>
          <a:xfrm>
            <a:off x="692726" y="2772352"/>
            <a:ext cx="2161309" cy="16810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200" b="1" dirty="0">
                <a:latin typeface="+mj-lt"/>
              </a:rPr>
              <a:t>Process Input (CSV File)</a:t>
            </a:r>
            <a:br>
              <a:rPr lang="en-US" sz="1200" b="1" dirty="0">
                <a:latin typeface="+mj-lt"/>
              </a:rPr>
            </a:br>
            <a:endParaRPr lang="vi-VN" sz="1200" dirty="0">
              <a:latin typeface="+mj-lt"/>
            </a:endParaRPr>
          </a:p>
          <a:p>
            <a:pPr marL="171450" indent="-171450">
              <a:buFont typeface="Arial" panose="020B0604020202020204" pitchFamily="34" charset="0"/>
              <a:buChar char="•"/>
            </a:pPr>
            <a:r>
              <a:rPr lang="vi-VN" sz="1200" dirty="0">
                <a:latin typeface="+mj-lt"/>
              </a:rPr>
              <a:t>Dữ liệu đầu vào được đọc từ file </a:t>
            </a:r>
            <a:r>
              <a:rPr lang="vi-VN" sz="1200" b="1" dirty="0">
                <a:latin typeface="+mj-lt"/>
              </a:rPr>
              <a:t>input.csv</a:t>
            </a:r>
            <a:endParaRPr lang="vi-VN" sz="1200" dirty="0">
              <a:latin typeface="+mj-lt"/>
            </a:endParaRPr>
          </a:p>
          <a:p>
            <a:pPr marL="171450" indent="-171450">
              <a:buFont typeface="Arial" panose="020B0604020202020204" pitchFamily="34" charset="0"/>
              <a:buChar char="•"/>
            </a:pPr>
            <a:r>
              <a:rPr lang="vi-VN" sz="1200" dirty="0">
                <a:latin typeface="+mj-lt"/>
              </a:rPr>
              <a:t>Bao gồm: </a:t>
            </a:r>
            <a:r>
              <a:rPr lang="vi-VN" sz="1200" b="1" dirty="0">
                <a:latin typeface="+mj-lt"/>
              </a:rPr>
              <a:t>PID, Arrival Time, Burst Time, Priority</a:t>
            </a:r>
            <a:endParaRPr lang="vi-VN" sz="1200" dirty="0">
              <a:latin typeface="+mj-lt"/>
            </a:endParaRPr>
          </a:p>
        </p:txBody>
      </p:sp>
      <p:sp>
        <p:nvSpPr>
          <p:cNvPr id="9" name="Rectangle 8">
            <a:extLst>
              <a:ext uri="{FF2B5EF4-FFF2-40B4-BE49-F238E27FC236}">
                <a16:creationId xmlns:a16="http://schemas.microsoft.com/office/drawing/2014/main" id="{7CA617F2-F03D-DCD6-B9DB-6F8EC6DE4AC4}"/>
              </a:ext>
            </a:extLst>
          </p:cNvPr>
          <p:cNvSpPr/>
          <p:nvPr/>
        </p:nvSpPr>
        <p:spPr>
          <a:xfrm>
            <a:off x="692727" y="4528704"/>
            <a:ext cx="2161308" cy="16810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CSV Parser</a:t>
            </a:r>
            <a:br>
              <a:rPr lang="en-US" sz="1200" b="1" dirty="0">
                <a:latin typeface="+mj-lt"/>
              </a:rPr>
            </a:br>
            <a:endParaRPr lang="vi-VN" sz="1200" dirty="0">
              <a:latin typeface="+mj-lt"/>
            </a:endParaRPr>
          </a:p>
          <a:p>
            <a:pPr marL="171450" indent="-171450">
              <a:buFont typeface="Arial" panose="020B0604020202020204" pitchFamily="34" charset="0"/>
              <a:buChar char="•"/>
            </a:pPr>
            <a:r>
              <a:rPr lang="en-US" sz="1200" dirty="0" err="1"/>
              <a:t>Đọc</a:t>
            </a:r>
            <a:r>
              <a:rPr lang="en-US" sz="1200" dirty="0"/>
              <a:t> </a:t>
            </a:r>
            <a:r>
              <a:rPr lang="en-US" sz="1200" dirty="0" err="1"/>
              <a:t>dữ</a:t>
            </a:r>
            <a:r>
              <a:rPr lang="en-US" sz="1200" dirty="0"/>
              <a:t> </a:t>
            </a:r>
            <a:r>
              <a:rPr lang="en-US" sz="1200" dirty="0" err="1"/>
              <a:t>liệu</a:t>
            </a:r>
            <a:r>
              <a:rPr lang="en-US" sz="1200" dirty="0"/>
              <a:t> </a:t>
            </a:r>
            <a:r>
              <a:rPr lang="en-US" sz="1200" dirty="0" err="1"/>
              <a:t>từ</a:t>
            </a:r>
            <a:r>
              <a:rPr lang="en-US" sz="1200" dirty="0"/>
              <a:t> file CSV</a:t>
            </a:r>
            <a:endParaRPr lang="vi-VN" sz="1200" dirty="0">
              <a:latin typeface="+mj-lt"/>
            </a:endParaRPr>
          </a:p>
          <a:p>
            <a:pPr marL="171450" indent="-171450">
              <a:buFont typeface="Arial" panose="020B0604020202020204" pitchFamily="34" charset="0"/>
              <a:buChar char="•"/>
            </a:pPr>
            <a:r>
              <a:rPr lang="en-US" sz="1200" dirty="0" err="1"/>
              <a:t>Kiểm</a:t>
            </a:r>
            <a:r>
              <a:rPr lang="en-US" sz="1200" dirty="0"/>
              <a:t> </a:t>
            </a:r>
            <a:r>
              <a:rPr lang="en-US" sz="1200" dirty="0" err="1"/>
              <a:t>tra</a:t>
            </a:r>
            <a:r>
              <a:rPr lang="en-US" sz="1200" dirty="0"/>
              <a:t> </a:t>
            </a:r>
            <a:r>
              <a:rPr lang="en-US" sz="1200" dirty="0" err="1"/>
              <a:t>định</a:t>
            </a:r>
            <a:r>
              <a:rPr lang="en-US" sz="1200" dirty="0"/>
              <a:t> </a:t>
            </a:r>
            <a:r>
              <a:rPr lang="en-US" sz="1200" dirty="0" err="1"/>
              <a:t>dạng</a:t>
            </a:r>
            <a:r>
              <a:rPr lang="en-US" sz="1200" dirty="0"/>
              <a:t> </a:t>
            </a:r>
            <a:r>
              <a:rPr lang="en-US" sz="1200" dirty="0" err="1"/>
              <a:t>và</a:t>
            </a:r>
            <a:r>
              <a:rPr lang="en-US" sz="1200" dirty="0"/>
              <a:t> </a:t>
            </a:r>
            <a:r>
              <a:rPr lang="en-US" sz="1200" dirty="0" err="1"/>
              <a:t>chuẩn</a:t>
            </a:r>
            <a:r>
              <a:rPr lang="en-US" sz="1200" dirty="0"/>
              <a:t> </a:t>
            </a:r>
            <a:r>
              <a:rPr lang="en-US" sz="1200" dirty="0" err="1"/>
              <a:t>hóa</a:t>
            </a:r>
            <a:r>
              <a:rPr lang="en-US" sz="1200" dirty="0"/>
              <a:t> </a:t>
            </a:r>
            <a:r>
              <a:rPr lang="en-US" sz="1200" dirty="0" err="1"/>
              <a:t>dữ</a:t>
            </a:r>
            <a:r>
              <a:rPr lang="en-US" sz="1200" dirty="0"/>
              <a:t> </a:t>
            </a:r>
            <a:r>
              <a:rPr lang="en-US" sz="1200" dirty="0" err="1"/>
              <a:t>liệu</a:t>
            </a:r>
            <a:endParaRPr lang="en-US" sz="1200" dirty="0"/>
          </a:p>
          <a:p>
            <a:pPr marL="171450" indent="-171450">
              <a:buFont typeface="Arial" panose="020B0604020202020204" pitchFamily="34" charset="0"/>
              <a:buChar char="•"/>
            </a:pPr>
            <a:r>
              <a:rPr lang="en-US" sz="1200" dirty="0" err="1"/>
              <a:t>Chuyển</a:t>
            </a:r>
            <a:r>
              <a:rPr lang="en-US" sz="1200" dirty="0"/>
              <a:t> </a:t>
            </a:r>
            <a:r>
              <a:rPr lang="en-US" sz="1200" dirty="0" err="1"/>
              <a:t>dữ</a:t>
            </a:r>
            <a:r>
              <a:rPr lang="en-US" sz="1200" dirty="0"/>
              <a:t> </a:t>
            </a:r>
            <a:r>
              <a:rPr lang="en-US" sz="1200" dirty="0" err="1"/>
              <a:t>liệu</a:t>
            </a:r>
            <a:r>
              <a:rPr lang="en-US" sz="1200" dirty="0"/>
              <a:t> </a:t>
            </a:r>
            <a:r>
              <a:rPr lang="en-US" sz="1200" dirty="0" err="1"/>
              <a:t>thành</a:t>
            </a:r>
            <a:r>
              <a:rPr lang="en-US" sz="1200" dirty="0"/>
              <a:t> </a:t>
            </a:r>
            <a:r>
              <a:rPr lang="en-US" sz="1200" dirty="0" err="1"/>
              <a:t>danh</a:t>
            </a:r>
            <a:r>
              <a:rPr lang="en-US" sz="1200" dirty="0"/>
              <a:t> </a:t>
            </a:r>
            <a:r>
              <a:rPr lang="en-US" sz="1200" dirty="0" err="1"/>
              <a:t>sách</a:t>
            </a:r>
            <a:r>
              <a:rPr lang="en-US" sz="1200" dirty="0"/>
              <a:t> </a:t>
            </a:r>
            <a:r>
              <a:rPr lang="en-US" sz="1200" dirty="0" err="1"/>
              <a:t>tiến</a:t>
            </a:r>
            <a:r>
              <a:rPr lang="en-US" sz="1200" dirty="0"/>
              <a:t> </a:t>
            </a:r>
            <a:r>
              <a:rPr lang="en-US" sz="1200" dirty="0" err="1"/>
              <a:t>trình</a:t>
            </a:r>
            <a:r>
              <a:rPr lang="en-US" sz="1200" dirty="0"/>
              <a:t> </a:t>
            </a:r>
            <a:r>
              <a:rPr lang="en-US" sz="1200" dirty="0" err="1"/>
              <a:t>để</a:t>
            </a:r>
            <a:r>
              <a:rPr lang="en-US" sz="1200" dirty="0"/>
              <a:t> </a:t>
            </a:r>
            <a:r>
              <a:rPr lang="en-US" sz="1200" dirty="0" err="1"/>
              <a:t>xử</a:t>
            </a:r>
            <a:r>
              <a:rPr lang="en-US" sz="1200" dirty="0"/>
              <a:t> </a:t>
            </a:r>
            <a:r>
              <a:rPr lang="en-US" sz="1200" dirty="0" err="1"/>
              <a:t>lý</a:t>
            </a:r>
            <a:endParaRPr lang="vi-VN" sz="1200" dirty="0"/>
          </a:p>
        </p:txBody>
      </p:sp>
      <p:sp>
        <p:nvSpPr>
          <p:cNvPr id="10" name="Rectangle: Rounded Corners 9">
            <a:extLst>
              <a:ext uri="{FF2B5EF4-FFF2-40B4-BE49-F238E27FC236}">
                <a16:creationId xmlns:a16="http://schemas.microsoft.com/office/drawing/2014/main" id="{F4F676CC-87F3-0B5A-D27D-D9331D3B8D71}"/>
              </a:ext>
            </a:extLst>
          </p:cNvPr>
          <p:cNvSpPr/>
          <p:nvPr/>
        </p:nvSpPr>
        <p:spPr>
          <a:xfrm>
            <a:off x="4147125" y="1736435"/>
            <a:ext cx="3043382" cy="7758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CORE ENGINE</a:t>
            </a:r>
          </a:p>
        </p:txBody>
      </p:sp>
      <p:sp>
        <p:nvSpPr>
          <p:cNvPr id="11" name="Rectangle 10">
            <a:extLst>
              <a:ext uri="{FF2B5EF4-FFF2-40B4-BE49-F238E27FC236}">
                <a16:creationId xmlns:a16="http://schemas.microsoft.com/office/drawing/2014/main" id="{415B3301-5E4C-02CE-0DE6-7C139FBBBBBD}"/>
              </a:ext>
            </a:extLst>
          </p:cNvPr>
          <p:cNvSpPr/>
          <p:nvPr/>
        </p:nvSpPr>
        <p:spPr>
          <a:xfrm>
            <a:off x="4354944" y="4528704"/>
            <a:ext cx="2627745" cy="16810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Results Calculator</a:t>
            </a:r>
            <a:br>
              <a:rPr lang="en-US" sz="1200" b="1" dirty="0">
                <a:latin typeface="+mj-lt"/>
              </a:rPr>
            </a:br>
            <a:r>
              <a:rPr lang="en-US" sz="1200" dirty="0"/>
              <a:t>Tính </a:t>
            </a:r>
            <a:r>
              <a:rPr lang="en-US" sz="1200" dirty="0" err="1"/>
              <a:t>các</a:t>
            </a:r>
            <a:r>
              <a:rPr lang="en-US" sz="1200" dirty="0"/>
              <a:t> </a:t>
            </a:r>
            <a:r>
              <a:rPr lang="en-US" sz="1200" dirty="0" err="1"/>
              <a:t>chỉ</a:t>
            </a:r>
            <a:r>
              <a:rPr lang="en-US" sz="1200" dirty="0"/>
              <a:t> </a:t>
            </a:r>
            <a:r>
              <a:rPr lang="en-US" sz="1200" dirty="0" err="1"/>
              <a:t>số</a:t>
            </a:r>
            <a:r>
              <a:rPr lang="en-US" sz="1200" dirty="0"/>
              <a:t>:</a:t>
            </a:r>
            <a:endParaRPr lang="vi-VN" sz="1200" dirty="0">
              <a:latin typeface="+mj-lt"/>
            </a:endParaRPr>
          </a:p>
          <a:p>
            <a:pPr marL="171450" indent="-171450">
              <a:buFont typeface="Arial" panose="020B0604020202020204" pitchFamily="34" charset="0"/>
              <a:buChar char="•"/>
            </a:pPr>
            <a:r>
              <a:rPr lang="en-US" sz="1200" dirty="0"/>
              <a:t>Waiting Time</a:t>
            </a:r>
          </a:p>
          <a:p>
            <a:pPr marL="171450" indent="-171450">
              <a:buFont typeface="Arial" panose="020B0604020202020204" pitchFamily="34" charset="0"/>
              <a:buChar char="•"/>
            </a:pPr>
            <a:r>
              <a:rPr lang="en-US" sz="1200" dirty="0"/>
              <a:t>Turnaround Time</a:t>
            </a:r>
          </a:p>
          <a:p>
            <a:pPr marL="171450" indent="-171450">
              <a:buFont typeface="Arial" panose="020B0604020202020204" pitchFamily="34" charset="0"/>
              <a:buChar char="•"/>
            </a:pPr>
            <a:r>
              <a:rPr lang="en-US" sz="1200" dirty="0"/>
              <a:t>Average Waiting Time</a:t>
            </a:r>
          </a:p>
          <a:p>
            <a:pPr marL="171450" indent="-171450">
              <a:buFont typeface="Arial" panose="020B0604020202020204" pitchFamily="34" charset="0"/>
              <a:buChar char="•"/>
            </a:pPr>
            <a:r>
              <a:rPr lang="en-US" sz="1200" dirty="0"/>
              <a:t>Average Turnaround Time</a:t>
            </a:r>
          </a:p>
        </p:txBody>
      </p:sp>
      <p:sp>
        <p:nvSpPr>
          <p:cNvPr id="12" name="Rectangle 11">
            <a:extLst>
              <a:ext uri="{FF2B5EF4-FFF2-40B4-BE49-F238E27FC236}">
                <a16:creationId xmlns:a16="http://schemas.microsoft.com/office/drawing/2014/main" id="{84A72B7B-417B-91D2-D995-5406910ED623}"/>
              </a:ext>
            </a:extLst>
          </p:cNvPr>
          <p:cNvSpPr/>
          <p:nvPr/>
        </p:nvSpPr>
        <p:spPr>
          <a:xfrm>
            <a:off x="4354945" y="2703368"/>
            <a:ext cx="2627746" cy="175000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SJF Scheduler</a:t>
            </a:r>
          </a:p>
          <a:p>
            <a:pPr marL="171450" indent="-171450">
              <a:buFont typeface="Arial" panose="020B0604020202020204" pitchFamily="34" charset="0"/>
              <a:buChar char="•"/>
            </a:pPr>
            <a:r>
              <a:rPr lang="en-US" sz="1200" dirty="0" err="1"/>
              <a:t>Triển</a:t>
            </a:r>
            <a:r>
              <a:rPr lang="en-US" sz="1200" dirty="0"/>
              <a:t> </a:t>
            </a:r>
            <a:r>
              <a:rPr lang="en-US" sz="1200" dirty="0" err="1"/>
              <a:t>khai</a:t>
            </a:r>
            <a:r>
              <a:rPr lang="en-US" sz="1200" dirty="0"/>
              <a:t> </a:t>
            </a:r>
            <a:r>
              <a:rPr lang="en-US" sz="1200" dirty="0" err="1"/>
              <a:t>thuật</a:t>
            </a:r>
            <a:r>
              <a:rPr lang="en-US" sz="1200" dirty="0"/>
              <a:t> </a:t>
            </a:r>
            <a:r>
              <a:rPr lang="en-US" sz="1200" dirty="0" err="1"/>
              <a:t>toán</a:t>
            </a:r>
            <a:r>
              <a:rPr lang="en-US" sz="1200" dirty="0"/>
              <a:t> </a:t>
            </a:r>
            <a:r>
              <a:rPr lang="en-US" sz="1200" b="1" dirty="0"/>
              <a:t>Shortest Job First (Non-Preemptive)</a:t>
            </a:r>
          </a:p>
          <a:p>
            <a:pPr marL="171450" indent="-171450">
              <a:buFont typeface="Arial" panose="020B0604020202020204" pitchFamily="34" charset="0"/>
              <a:buChar char="•"/>
            </a:pPr>
            <a:r>
              <a:rPr lang="en-US" sz="1200" dirty="0" err="1"/>
              <a:t>Chọn</a:t>
            </a:r>
            <a:r>
              <a:rPr lang="en-US" sz="1200" dirty="0"/>
              <a:t> </a:t>
            </a:r>
            <a:r>
              <a:rPr lang="en-US" sz="1200" dirty="0" err="1"/>
              <a:t>tiến</a:t>
            </a:r>
            <a:r>
              <a:rPr lang="en-US" sz="1200" dirty="0"/>
              <a:t> </a:t>
            </a:r>
            <a:r>
              <a:rPr lang="en-US" sz="1200" dirty="0" err="1"/>
              <a:t>trình</a:t>
            </a:r>
            <a:r>
              <a:rPr lang="en-US" sz="1200" dirty="0"/>
              <a:t> </a:t>
            </a:r>
            <a:r>
              <a:rPr lang="en-US" sz="1200" dirty="0" err="1"/>
              <a:t>có</a:t>
            </a:r>
            <a:r>
              <a:rPr lang="en-US" sz="1200" dirty="0"/>
              <a:t> </a:t>
            </a:r>
            <a:r>
              <a:rPr lang="en-US" sz="1200" b="1" dirty="0"/>
              <a:t>Burst Time </a:t>
            </a:r>
            <a:r>
              <a:rPr lang="en-US" sz="1200" b="1" dirty="0" err="1"/>
              <a:t>nhỏ</a:t>
            </a:r>
            <a:r>
              <a:rPr lang="en-US" sz="1200" b="1" dirty="0"/>
              <a:t> </a:t>
            </a:r>
            <a:r>
              <a:rPr lang="en-US" sz="1200" b="1" dirty="0" err="1"/>
              <a:t>nhất</a:t>
            </a:r>
            <a:endParaRPr lang="en-US" sz="1200" b="1" dirty="0"/>
          </a:p>
          <a:p>
            <a:pPr marL="171450" indent="-171450">
              <a:buFont typeface="Arial" panose="020B0604020202020204" pitchFamily="34" charset="0"/>
              <a:buChar char="•"/>
            </a:pPr>
            <a:r>
              <a:rPr lang="en-US" sz="1200" dirty="0"/>
              <a:t>Sắp </a:t>
            </a:r>
            <a:r>
              <a:rPr lang="en-US" sz="1200" dirty="0" err="1"/>
              <a:t>xếp</a:t>
            </a:r>
            <a:r>
              <a:rPr lang="en-US" sz="1200" dirty="0"/>
              <a:t> </a:t>
            </a:r>
            <a:r>
              <a:rPr lang="en-US" sz="1200" dirty="0" err="1"/>
              <a:t>thứ</a:t>
            </a:r>
            <a:r>
              <a:rPr lang="en-US" sz="1200" dirty="0"/>
              <a:t> </a:t>
            </a:r>
            <a:r>
              <a:rPr lang="en-US" sz="1200" dirty="0" err="1"/>
              <a:t>tự</a:t>
            </a:r>
            <a:r>
              <a:rPr lang="en-US" sz="1200" dirty="0"/>
              <a:t> </a:t>
            </a:r>
            <a:r>
              <a:rPr lang="en-US" sz="1200" dirty="0" err="1"/>
              <a:t>thực</a:t>
            </a:r>
            <a:r>
              <a:rPr lang="en-US" sz="1200" dirty="0"/>
              <a:t> </a:t>
            </a:r>
            <a:r>
              <a:rPr lang="en-US" sz="1200" dirty="0" err="1"/>
              <a:t>thi</a:t>
            </a:r>
            <a:r>
              <a:rPr lang="en-US" sz="1200" dirty="0"/>
              <a:t> </a:t>
            </a:r>
            <a:r>
              <a:rPr lang="en-US" sz="1200" dirty="0" err="1"/>
              <a:t>theo</a:t>
            </a:r>
            <a:r>
              <a:rPr lang="en-US" sz="1200" dirty="0"/>
              <a:t> </a:t>
            </a:r>
            <a:r>
              <a:rPr lang="en-US" sz="1200" dirty="0" err="1"/>
              <a:t>nguyên</a:t>
            </a:r>
            <a:r>
              <a:rPr lang="en-US" sz="1200" dirty="0"/>
              <a:t> </a:t>
            </a:r>
            <a:r>
              <a:rPr lang="en-US" sz="1200" dirty="0" err="1"/>
              <a:t>tắc</a:t>
            </a:r>
            <a:r>
              <a:rPr lang="en-US" sz="1200" dirty="0"/>
              <a:t> SJF</a:t>
            </a:r>
            <a:br>
              <a:rPr lang="en-US" sz="1200" b="1" dirty="0">
                <a:latin typeface="+mj-lt"/>
              </a:rPr>
            </a:br>
            <a:endParaRPr lang="vi-VN" sz="1200" dirty="0">
              <a:latin typeface="+mj-lt"/>
            </a:endParaRPr>
          </a:p>
        </p:txBody>
      </p:sp>
      <p:sp>
        <p:nvSpPr>
          <p:cNvPr id="13" name="Rectangle: Rounded Corners 12">
            <a:extLst>
              <a:ext uri="{FF2B5EF4-FFF2-40B4-BE49-F238E27FC236}">
                <a16:creationId xmlns:a16="http://schemas.microsoft.com/office/drawing/2014/main" id="{2DDE3C0A-75F5-A90B-2A75-425809CE4248}"/>
              </a:ext>
            </a:extLst>
          </p:cNvPr>
          <p:cNvSpPr/>
          <p:nvPr/>
        </p:nvSpPr>
        <p:spPr>
          <a:xfrm>
            <a:off x="8243451" y="1900958"/>
            <a:ext cx="2604655" cy="7758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 LAYER</a:t>
            </a:r>
          </a:p>
        </p:txBody>
      </p:sp>
      <p:sp>
        <p:nvSpPr>
          <p:cNvPr id="14" name="Rectangle 13">
            <a:extLst>
              <a:ext uri="{FF2B5EF4-FFF2-40B4-BE49-F238E27FC236}">
                <a16:creationId xmlns:a16="http://schemas.microsoft.com/office/drawing/2014/main" id="{A66C95E3-868E-017C-82FC-54D84203A5DC}"/>
              </a:ext>
            </a:extLst>
          </p:cNvPr>
          <p:cNvSpPr/>
          <p:nvPr/>
        </p:nvSpPr>
        <p:spPr>
          <a:xfrm>
            <a:off x="8483601" y="4002522"/>
            <a:ext cx="2161309" cy="11346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CSV Exporter</a:t>
            </a:r>
            <a:br>
              <a:rPr lang="en-US" sz="1200" b="1" dirty="0">
                <a:latin typeface="+mj-lt"/>
              </a:rPr>
            </a:br>
            <a:endParaRPr lang="vi-VN" sz="1200" dirty="0">
              <a:latin typeface="+mj-lt"/>
            </a:endParaRPr>
          </a:p>
          <a:p>
            <a:pPr marL="171450" indent="-171450">
              <a:buFont typeface="Arial" panose="020B0604020202020204" pitchFamily="34" charset="0"/>
              <a:buChar char="•"/>
            </a:pPr>
            <a:r>
              <a:rPr lang="en-US" sz="1200" dirty="0"/>
              <a:t>Xuất </a:t>
            </a:r>
            <a:r>
              <a:rPr lang="en-US" sz="1200" dirty="0" err="1"/>
              <a:t>kết</a:t>
            </a:r>
            <a:r>
              <a:rPr lang="en-US" sz="1200" dirty="0"/>
              <a:t> </a:t>
            </a:r>
            <a:r>
              <a:rPr lang="en-US" sz="1200" dirty="0" err="1"/>
              <a:t>quả</a:t>
            </a:r>
            <a:r>
              <a:rPr lang="en-US" sz="1200" dirty="0"/>
              <a:t> </a:t>
            </a:r>
            <a:r>
              <a:rPr lang="en-US" sz="1200" dirty="0" err="1"/>
              <a:t>ra</a:t>
            </a:r>
            <a:r>
              <a:rPr lang="en-US" sz="1200" dirty="0"/>
              <a:t> file </a:t>
            </a:r>
            <a:r>
              <a:rPr lang="en-US" sz="1200" b="1" dirty="0"/>
              <a:t>output.csv</a:t>
            </a:r>
          </a:p>
          <a:p>
            <a:pPr marL="171450" indent="-171450">
              <a:buFont typeface="Arial" panose="020B0604020202020204" pitchFamily="34" charset="0"/>
              <a:buChar char="•"/>
            </a:pPr>
            <a:r>
              <a:rPr lang="vi-VN" sz="1200" dirty="0"/>
              <a:t>Lưu dữ liệu phục vụ kiểm thử và báo cáo</a:t>
            </a:r>
            <a:endParaRPr lang="vi-VN" sz="1200" dirty="0">
              <a:latin typeface="+mj-lt"/>
            </a:endParaRPr>
          </a:p>
        </p:txBody>
      </p:sp>
      <p:sp>
        <p:nvSpPr>
          <p:cNvPr id="15" name="Rectangle 14">
            <a:extLst>
              <a:ext uri="{FF2B5EF4-FFF2-40B4-BE49-F238E27FC236}">
                <a16:creationId xmlns:a16="http://schemas.microsoft.com/office/drawing/2014/main" id="{0EDDBD14-D313-5B2B-7355-A3F268236E14}"/>
              </a:ext>
            </a:extLst>
          </p:cNvPr>
          <p:cNvSpPr/>
          <p:nvPr/>
        </p:nvSpPr>
        <p:spPr>
          <a:xfrm>
            <a:off x="8483601" y="2772352"/>
            <a:ext cx="2161309" cy="11346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Gantt Chart</a:t>
            </a:r>
            <a:br>
              <a:rPr lang="en-US" sz="1200" b="1" dirty="0">
                <a:latin typeface="+mj-lt"/>
              </a:rPr>
            </a:br>
            <a:endParaRPr lang="vi-VN" sz="1200" dirty="0">
              <a:latin typeface="+mj-lt"/>
            </a:endParaRPr>
          </a:p>
          <a:p>
            <a:pPr marL="171450" indent="-171450">
              <a:buFont typeface="Arial" panose="020B0604020202020204" pitchFamily="34" charset="0"/>
              <a:buChar char="•"/>
            </a:pPr>
            <a:r>
              <a:rPr lang="en-US" sz="1200" dirty="0"/>
              <a:t>Hiển </a:t>
            </a:r>
            <a:r>
              <a:rPr lang="en-US" sz="1200" dirty="0" err="1"/>
              <a:t>thị</a:t>
            </a:r>
            <a:r>
              <a:rPr lang="en-US" sz="1200" dirty="0"/>
              <a:t> </a:t>
            </a:r>
            <a:r>
              <a:rPr lang="en-US" sz="1200" dirty="0" err="1"/>
              <a:t>thứ</a:t>
            </a:r>
            <a:r>
              <a:rPr lang="en-US" sz="1200" dirty="0"/>
              <a:t> </a:t>
            </a:r>
            <a:r>
              <a:rPr lang="en-US" sz="1200" dirty="0" err="1"/>
              <a:t>tự</a:t>
            </a:r>
            <a:r>
              <a:rPr lang="en-US" sz="1200" dirty="0"/>
              <a:t> </a:t>
            </a:r>
            <a:r>
              <a:rPr lang="en-US" sz="1200" dirty="0" err="1"/>
              <a:t>thực</a:t>
            </a:r>
            <a:r>
              <a:rPr lang="en-US" sz="1200" dirty="0"/>
              <a:t> </a:t>
            </a:r>
            <a:r>
              <a:rPr lang="en-US" sz="1200" dirty="0" err="1"/>
              <a:t>thi</a:t>
            </a:r>
            <a:r>
              <a:rPr lang="en-US" sz="1200" dirty="0"/>
              <a:t> </a:t>
            </a:r>
            <a:r>
              <a:rPr lang="en-US" sz="1200" dirty="0" err="1"/>
              <a:t>tiến</a:t>
            </a:r>
            <a:r>
              <a:rPr lang="en-US" sz="1200" dirty="0"/>
              <a:t> </a:t>
            </a:r>
            <a:r>
              <a:rPr lang="en-US" sz="1200" dirty="0" err="1"/>
              <a:t>trình</a:t>
            </a:r>
            <a:endParaRPr lang="en-US" sz="1200" dirty="0"/>
          </a:p>
          <a:p>
            <a:pPr marL="171450" indent="-171450">
              <a:buFont typeface="Arial" panose="020B0604020202020204" pitchFamily="34" charset="0"/>
              <a:buChar char="•"/>
            </a:pPr>
            <a:r>
              <a:rPr lang="en-US" sz="1200" dirty="0" err="1"/>
              <a:t>Trực</a:t>
            </a:r>
            <a:r>
              <a:rPr lang="en-US" sz="1200" dirty="0"/>
              <a:t> </a:t>
            </a:r>
            <a:r>
              <a:rPr lang="en-US" sz="1200" dirty="0" err="1"/>
              <a:t>quan</a:t>
            </a:r>
            <a:r>
              <a:rPr lang="en-US" sz="1200" dirty="0"/>
              <a:t> </a:t>
            </a:r>
            <a:r>
              <a:rPr lang="en-US" sz="1200" dirty="0" err="1"/>
              <a:t>hóa</a:t>
            </a:r>
            <a:r>
              <a:rPr lang="en-US" sz="1200" dirty="0"/>
              <a:t> </a:t>
            </a:r>
            <a:r>
              <a:rPr lang="en-US" sz="1200" dirty="0" err="1"/>
              <a:t>kết</a:t>
            </a:r>
            <a:r>
              <a:rPr lang="en-US" sz="1200" dirty="0"/>
              <a:t> </a:t>
            </a:r>
            <a:r>
              <a:rPr lang="en-US" sz="1200" dirty="0" err="1"/>
              <a:t>quả</a:t>
            </a:r>
            <a:r>
              <a:rPr lang="en-US" sz="1200" dirty="0"/>
              <a:t> </a:t>
            </a:r>
            <a:r>
              <a:rPr lang="en-US" sz="1200" dirty="0" err="1"/>
              <a:t>của</a:t>
            </a:r>
            <a:r>
              <a:rPr lang="en-US" sz="1200" dirty="0"/>
              <a:t> </a:t>
            </a:r>
            <a:r>
              <a:rPr lang="en-US" sz="1200" dirty="0" err="1"/>
              <a:t>thuật</a:t>
            </a:r>
            <a:r>
              <a:rPr lang="en-US" sz="1200" dirty="0"/>
              <a:t> </a:t>
            </a:r>
            <a:r>
              <a:rPr lang="en-US" sz="1200" dirty="0" err="1"/>
              <a:t>toán</a:t>
            </a:r>
            <a:r>
              <a:rPr lang="en-US" sz="1200" dirty="0"/>
              <a:t> SJF</a:t>
            </a:r>
            <a:endParaRPr lang="vi-VN" sz="1200" dirty="0">
              <a:latin typeface="+mj-lt"/>
            </a:endParaRPr>
          </a:p>
        </p:txBody>
      </p:sp>
      <p:sp>
        <p:nvSpPr>
          <p:cNvPr id="16" name="Rectangle 15">
            <a:extLst>
              <a:ext uri="{FF2B5EF4-FFF2-40B4-BE49-F238E27FC236}">
                <a16:creationId xmlns:a16="http://schemas.microsoft.com/office/drawing/2014/main" id="{390D8BE0-D612-A1F9-B8A4-54B4C7C43AF8}"/>
              </a:ext>
            </a:extLst>
          </p:cNvPr>
          <p:cNvSpPr/>
          <p:nvPr/>
        </p:nvSpPr>
        <p:spPr>
          <a:xfrm>
            <a:off x="8483601" y="5244814"/>
            <a:ext cx="2161309" cy="11346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User Interface</a:t>
            </a:r>
            <a:br>
              <a:rPr lang="en-US" sz="1200" b="1" dirty="0">
                <a:latin typeface="+mj-lt"/>
              </a:rPr>
            </a:br>
            <a:endParaRPr lang="vi-VN" sz="1200" dirty="0">
              <a:latin typeface="+mj-lt"/>
            </a:endParaRPr>
          </a:p>
          <a:p>
            <a:pPr marL="171450" indent="-171450">
              <a:buFont typeface="Arial" panose="020B0604020202020204" pitchFamily="34" charset="0"/>
              <a:buChar char="•"/>
            </a:pPr>
            <a:r>
              <a:rPr lang="en-US" sz="1200" dirty="0"/>
              <a:t>Hiển </a:t>
            </a:r>
            <a:r>
              <a:rPr lang="en-US" sz="1200" dirty="0" err="1"/>
              <a:t>thị</a:t>
            </a:r>
            <a:r>
              <a:rPr lang="en-US" sz="1200" dirty="0"/>
              <a:t> </a:t>
            </a:r>
            <a:r>
              <a:rPr lang="en-US" sz="1200" dirty="0" err="1"/>
              <a:t>kết</a:t>
            </a:r>
            <a:r>
              <a:rPr lang="en-US" sz="1200" dirty="0"/>
              <a:t> </a:t>
            </a:r>
            <a:r>
              <a:rPr lang="en-US" sz="1200" dirty="0" err="1"/>
              <a:t>quả</a:t>
            </a:r>
            <a:r>
              <a:rPr lang="en-US" sz="1200" dirty="0"/>
              <a:t> </a:t>
            </a:r>
            <a:r>
              <a:rPr lang="en-US" sz="1200" dirty="0" err="1"/>
              <a:t>trên</a:t>
            </a:r>
            <a:r>
              <a:rPr lang="en-US" sz="1200" dirty="0"/>
              <a:t> </a:t>
            </a:r>
            <a:r>
              <a:rPr lang="en-US" sz="1200" dirty="0" err="1"/>
              <a:t>giao</a:t>
            </a:r>
            <a:r>
              <a:rPr lang="en-US" sz="1200" dirty="0"/>
              <a:t> </a:t>
            </a:r>
            <a:r>
              <a:rPr lang="en-US" sz="1200" dirty="0" err="1"/>
              <a:t>diện</a:t>
            </a:r>
            <a:endParaRPr lang="en-US" sz="1200" dirty="0"/>
          </a:p>
          <a:p>
            <a:pPr marL="171450" indent="-171450">
              <a:buFont typeface="Arial" panose="020B0604020202020204" pitchFamily="34" charset="0"/>
              <a:buChar char="•"/>
            </a:pPr>
            <a:r>
              <a:rPr lang="en-US" sz="1200" dirty="0"/>
              <a:t>Kết </a:t>
            </a:r>
            <a:r>
              <a:rPr lang="en-US" sz="1200" dirty="0" err="1"/>
              <a:t>hợp</a:t>
            </a:r>
            <a:r>
              <a:rPr lang="en-US" sz="1200" dirty="0"/>
              <a:t> </a:t>
            </a:r>
            <a:r>
              <a:rPr lang="en-US" sz="1200" dirty="0" err="1"/>
              <a:t>bảng</a:t>
            </a:r>
            <a:r>
              <a:rPr lang="en-US" sz="1200" dirty="0"/>
              <a:t> </a:t>
            </a:r>
            <a:r>
              <a:rPr lang="en-US" sz="1200" dirty="0" err="1"/>
              <a:t>dữ</a:t>
            </a:r>
            <a:r>
              <a:rPr lang="en-US" sz="1200" dirty="0"/>
              <a:t> </a:t>
            </a:r>
            <a:r>
              <a:rPr lang="en-US" sz="1200" dirty="0" err="1"/>
              <a:t>liệu</a:t>
            </a:r>
            <a:r>
              <a:rPr lang="en-US" sz="1200" dirty="0"/>
              <a:t> </a:t>
            </a:r>
            <a:r>
              <a:rPr lang="en-US" sz="1200" dirty="0" err="1"/>
              <a:t>và</a:t>
            </a:r>
            <a:r>
              <a:rPr lang="en-US" sz="1200" dirty="0"/>
              <a:t> </a:t>
            </a:r>
            <a:r>
              <a:rPr lang="en-US" sz="1200" dirty="0" err="1"/>
              <a:t>biểu</a:t>
            </a:r>
            <a:r>
              <a:rPr lang="en-US" sz="1200" dirty="0"/>
              <a:t> </a:t>
            </a:r>
            <a:r>
              <a:rPr lang="en-US" sz="1200" dirty="0" err="1"/>
              <a:t>đồ</a:t>
            </a:r>
            <a:r>
              <a:rPr lang="en-US" sz="1200" dirty="0"/>
              <a:t> Gantt</a:t>
            </a:r>
            <a:endParaRPr lang="vi-VN" sz="1200" dirty="0">
              <a:latin typeface="+mj-lt"/>
            </a:endParaRPr>
          </a:p>
        </p:txBody>
      </p:sp>
    </p:spTree>
    <p:extLst>
      <p:ext uri="{BB962C8B-B14F-4D97-AF65-F5344CB8AC3E}">
        <p14:creationId xmlns:p14="http://schemas.microsoft.com/office/powerpoint/2010/main" val="402556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ED608AF9-652F-C823-31A1-AE0F218AA620}"/>
            </a:ext>
          </a:extLst>
        </p:cNvPr>
        <p:cNvGrpSpPr/>
        <p:nvPr/>
      </p:nvGrpSpPr>
      <p:grpSpPr>
        <a:xfrm>
          <a:off x="0" y="0"/>
          <a:ext cx="0" cy="0"/>
          <a:chOff x="0" y="0"/>
          <a:chExt cx="0" cy="0"/>
        </a:xfrm>
      </p:grpSpPr>
      <p:pic>
        <p:nvPicPr>
          <p:cNvPr id="6146" name="Picture 2" descr="Download 50+ Slide cảm ơn đẹp, hài hước, chuyên nghiệp cuối bài thuyết  trình | Phongvu.vn">
            <a:extLst>
              <a:ext uri="{FF2B5EF4-FFF2-40B4-BE49-F238E27FC236}">
                <a16:creationId xmlns:a16="http://schemas.microsoft.com/office/drawing/2014/main" id="{96D716DE-DF07-96CF-2424-208BD38F49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Download 50+ Slide cảm ơn đẹp, hài hước, chuyên nghiệp cuối bài thuyết  trình | Phongvu.vn">
            <a:extLst>
              <a:ext uri="{FF2B5EF4-FFF2-40B4-BE49-F238E27FC236}">
                <a16:creationId xmlns:a16="http://schemas.microsoft.com/office/drawing/2014/main" id="{F893F05B-2304-67DF-1EA8-FBF167A713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81000"/>
            <a:ext cx="97536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1329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1305</Words>
  <Application>Microsoft Office PowerPoint</Application>
  <PresentationFormat>Widescreen</PresentationFormat>
  <Paragraphs>174</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Nhóm 1 : Hệ Điều Hành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 ha</dc:creator>
  <cp:lastModifiedBy>hao ha</cp:lastModifiedBy>
  <cp:revision>4</cp:revision>
  <dcterms:created xsi:type="dcterms:W3CDTF">2026-04-26T14:58:39Z</dcterms:created>
  <dcterms:modified xsi:type="dcterms:W3CDTF">2026-04-28T08:25:21Z</dcterms:modified>
</cp:coreProperties>
</file>